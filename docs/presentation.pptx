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none"/>
        <c:varyColors val="0"/>
        <c:ser>
          <c:idx val="0"/>
          <c:order val="0"/>
          <c:tx>
            <c:strRef>
              <c:f>Net market P&amp;L, USD M</c:f>
              <c:strCache>
                <c:ptCount val="1"/>
                <c:pt idx="0">
                  <c:v>Net market P&amp;L, USD M</c:v>
                </c:pt>
              </c:strCache>
            </c:strRef>
          </c:tx>
          <c:spPr>
            <a:solidFill>
              <a:srgbClr val="56D9C5"/>
            </a:solidFill>
          </c:spPr>
          <c:invertIfNegative val="0"/>
          <c:dPt>
            <c:idx val="0"/>
            <c:invertIfNegative val="0"/>
            <c:bubble3D val="0"/>
            <c:spPr>
              <a:solidFill>
                <a:srgbClr val="FB7185"/>
              </a:solidFill>
            </c:spPr>
          </c:dPt>
          <c:dPt>
            <c:idx val="1"/>
            <c:invertIfNegative val="0"/>
            <c:bubble3D val="0"/>
            <c:spPr>
              <a:solidFill>
                <a:srgbClr val="56D9C5"/>
              </a:solidFill>
            </c:spPr>
          </c:dPt>
          <c:dLbls>
            <c:numFmt formatCode="0.0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Data'!$A$2:$A$3</c:f>
              <c:strCache>
                <c:ptCount val="2"/>
                <c:pt idx="0">
                  <c:v>Rate rise</c:v>
                </c:pt>
                <c:pt idx="1">
                  <c:v>Rate cut</c:v>
                </c:pt>
              </c:strCache>
            </c:strRef>
          </c:cat>
          <c:val>
            <c:numRef>
              <c:f>'Chart Data'!$B$2:$B$3</c:f>
              <c:numCache>
                <c:formatCode>0.00</c:formatCode>
                <c:ptCount val="2"/>
                <c:pt idx="0">
                  <c:v>-21.95</c:v>
                </c:pt>
                <c:pt idx="1">
                  <c:v>21.95</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A9B8CE"/>
            </a:solidFill>
            <a:prstDash val="solid"/>
            <a:round/>
          </a:ln>
        </c:spPr>
        <c:txPr>
          <a:bodyPr rot="-60000000" spcFirstLastPara="0" vertOverflow="ellipsis" vert="horz" wrap="square" anchor="ctr" anchorCtr="1"/>
          <a:lstStyle/>
          <a:p>
            <a:pPr>
              <a:defRPr lang="en-US" sz="1425" b="0" i="0" u="none" strike="noStrike" kern="1200" baseline="0">
                <a:solidFill>
                  <a:srgbClr val="E5EDF8"/>
                </a:solidFill>
                <a:latin typeface="DejaVu Sans"/>
                <a:ea typeface="DejaVu Sans"/>
                <a:cs typeface="DejaVu Sans"/>
              </a:defRPr>
            </a:pPr>
          </a:p>
        </c:txPr>
        <c:crossAx val="48672768"/>
        <c:crosses val="autoZero"/>
        <c:auto val="1"/>
        <c:lblAlgn val="ctr"/>
        <c:lblOffset val="100"/>
        <c:noMultiLvlLbl val="0"/>
      </c:catAx>
      <c:valAx>
        <c:axId val="48672768"/>
        <c:scaling>
          <c:orientation val="minMax"/>
        </c:scaling>
        <c:delete val="0"/>
        <c:axPos val="l"/>
        <c:majorGridlines>
          <c:spPr>
            <a:ln w="9525">
              <a:solidFill>
                <a:srgbClr val="25364C"/>
              </a:solidFill>
              <a:prstDash val="solid"/>
              <a:round/>
            </a:ln>
          </c:spPr>
        </c:majorGridlines>
        <c:title>
          <c:tx>
            <c:rich>
              <a:bodyPr rot="-5400000" spcFirstLastPara="0" vertOverflow="ellipsis" vert="horz" wrap="square" anchor="ctr" anchorCtr="1"/>
              <a:lstStyle/>
              <a:p>
                <a:pPr>
                  <a:defRPr lang="en-US" sz="1000" b="1" i="0" u="none" strike="noStrike" kern="1200" baseline="0">
                    <a:solidFill>
                      <a:schemeClr val="tx1"/>
                    </a:solidFill>
                    <a:latin typeface="+mn-lt"/>
                    <a:ea typeface="+mn-ea"/>
                    <a:cs typeface="+mn-cs"/>
                  </a:defRPr>
                </a:pPr>
                <a:r>
                  <a:rPr sz="1425">
                    <a:solidFill>
                      <a:srgbClr val="A9B8CE"/>
                    </a:solidFill>
                    <a:latin typeface="DejaVu Sans"/>
                    <a:ea typeface="DejaVu Sans"/>
                    <a:cs typeface="DejaVu Sans"/>
                  </a:rPr>
                  <a:t>Net market P&amp;L, USD M</a:t>
                </a:r>
                <a:endParaRPr sz="1425">
                  <a:solidFill>
                    <a:srgbClr val="A9B8CE"/>
                  </a:solidFill>
                  <a:latin typeface="DejaVu Sans"/>
                  <a:ea typeface="DejaVu Sans"/>
                  <a:cs typeface="DejaVu Sans"/>
                </a:endParaRPr>
              </a:p>
            </c:rich>
          </c:tx>
          <c:layout/>
          <c:overlay val="0"/>
        </c:title>
        <c:numFmt formatCode="0.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en-US" sz="1350" b="0" i="0" u="none" strike="noStrike" kern="1200" baseline="0">
                <a:solidFill>
                  <a:srgbClr val="A9B8CE"/>
                </a:solidFill>
                <a:latin typeface="DejaVu Sans"/>
                <a:ea typeface="DejaVu Sans"/>
                <a:cs typeface="DejaVu Sans"/>
              </a:defRPr>
            </a:pPr>
          </a:p>
        </c:txPr>
        <c:crossAx val="48650112"/>
        <c:crosses val="autoZero"/>
        <c:crossBetween val="between"/>
      </c:valAx>
      <c:spPr>
        <a:noFill/>
      </c:spPr>
    </c:plotArea>
    <c:plotVisOnly val="1"/>
    <c:dispBlanksAs val="gap"/>
    <c:showDLblsOverMax val="0"/>
    <c:extLst>
      <c:ext uri="{0b15fc19-7d7d-44ad-8c2d-2c3a37ce22c3}">
        <chartProps xmlns="https://web.wps.cn/et/2018/main" chartId="{b68fde71-cf3e-43d4-b444-01ef3057f614}"/>
      </c:ext>
    </c:extLst>
  </c:chart>
  <c:spPr>
    <a:noFill/>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none"/>
        <c:varyColors val="0"/>
        <c:ser>
          <c:idx val="0"/>
          <c:order val="0"/>
          <c:tx>
            <c:strRef>
              <c:f>Accuracy</c:f>
              <c:strCache>
                <c:ptCount val="1"/>
                <c:pt idx="0">
                  <c:v>Accuracy</c:v>
                </c:pt>
              </c:strCache>
            </c:strRef>
          </c:tx>
          <c:spPr>
            <a:solidFill>
              <a:srgbClr val="56D9C5"/>
            </a:solidFill>
          </c:spPr>
          <c:invertIfNegative val="0"/>
          <c:dPt>
            <c:idx val="0"/>
            <c:invertIfNegative val="0"/>
            <c:bubble3D val="0"/>
            <c:spPr>
              <a:solidFill>
                <a:srgbClr val="82A9EE"/>
              </a:solidFill>
            </c:spPr>
          </c:dPt>
          <c:dPt>
            <c:idx val="1"/>
            <c:invertIfNegative val="0"/>
            <c:bubble3D val="0"/>
            <c:spPr>
              <a:solidFill>
                <a:srgbClr val="56D9C5"/>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Data'!$A$2:$A$3</c:f>
              <c:strCache>
                <c:ptCount val="2"/>
                <c:pt idx="0">
                  <c:v>Rules</c:v>
                </c:pt>
                <c:pt idx="1">
                  <c:v>Learned scorer</c:v>
                </c:pt>
              </c:strCache>
            </c:strRef>
          </c:cat>
          <c:val>
            <c:numRef>
              <c:f>'Chart Data'!$B$2:$B$3</c:f>
              <c:numCache>
                <c:formatCode>0.0%</c:formatCode>
                <c:ptCount val="2"/>
                <c:pt idx="0">
                  <c:v>0.36667</c:v>
                </c:pt>
                <c:pt idx="1">
                  <c:v>0.7625</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A9B8CE"/>
            </a:solidFill>
            <a:prstDash val="solid"/>
            <a:round/>
          </a:ln>
        </c:spPr>
        <c:txPr>
          <a:bodyPr rot="-60000000" spcFirstLastPara="0" vertOverflow="ellipsis" vert="horz" wrap="square" anchor="ctr" anchorCtr="1"/>
          <a:lstStyle/>
          <a:p>
            <a:pPr>
              <a:defRPr lang="en-US" sz="1425" b="0" i="0" u="none" strike="noStrike" kern="1200" baseline="0">
                <a:solidFill>
                  <a:srgbClr val="E5EDF8"/>
                </a:solidFill>
                <a:latin typeface="DejaVu Sans"/>
                <a:ea typeface="DejaVu Sans"/>
                <a:cs typeface="DejaVu Sans"/>
              </a:defRPr>
            </a:pPr>
          </a:p>
        </c:txPr>
        <c:crossAx val="48672768"/>
        <c:crosses val="autoZero"/>
        <c:auto val="1"/>
        <c:lblAlgn val="ctr"/>
        <c:lblOffset val="100"/>
        <c:noMultiLvlLbl val="0"/>
      </c:catAx>
      <c:valAx>
        <c:axId val="48672768"/>
        <c:scaling>
          <c:orientation val="minMax"/>
          <c:max val="1"/>
          <c:min val="0"/>
        </c:scaling>
        <c:delete val="0"/>
        <c:axPos val="l"/>
        <c:majorGridlines>
          <c:spPr>
            <a:ln w="9525">
              <a:solidFill>
                <a:srgbClr val="25364C"/>
              </a:solidFill>
              <a:prstDash val="solid"/>
              <a:round/>
            </a:ln>
          </c:spPr>
        </c:majorGridlines>
        <c:title>
          <c:tx>
            <c:rich>
              <a:bodyPr rot="-5400000" spcFirstLastPara="0" vertOverflow="ellipsis" vert="horz" wrap="square" anchor="ctr" anchorCtr="1"/>
              <a:lstStyle/>
              <a:p>
                <a:pPr>
                  <a:defRPr lang="en-US" sz="1000" b="1" i="0" u="none" strike="noStrike" kern="1200" baseline="0">
                    <a:solidFill>
                      <a:schemeClr val="tx1"/>
                    </a:solidFill>
                    <a:latin typeface="+mn-lt"/>
                    <a:ea typeface="+mn-ea"/>
                    <a:cs typeface="+mn-cs"/>
                  </a:defRPr>
                </a:pPr>
                <a:r>
                  <a:rPr sz="1425">
                    <a:solidFill>
                      <a:srgbClr val="A9B8CE"/>
                    </a:solidFill>
                    <a:latin typeface="DejaVu Sans"/>
                    <a:ea typeface="DejaVu Sans"/>
                    <a:cs typeface="DejaVu Sans"/>
                  </a:rPr>
                  <a:t>Accuracy</a:t>
                </a:r>
                <a:endParaRPr sz="1425">
                  <a:solidFill>
                    <a:srgbClr val="A9B8CE"/>
                  </a:solidFill>
                  <a:latin typeface="DejaVu Sans"/>
                  <a:ea typeface="DejaVu Sans"/>
                  <a:cs typeface="DejaVu Sans"/>
                </a:endParaRPr>
              </a:p>
            </c:rich>
          </c:tx>
          <c:layout/>
          <c:overlay val="0"/>
        </c:title>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en-US" sz="1350" b="0" i="0" u="none" strike="noStrike" kern="1200" baseline="0">
                <a:solidFill>
                  <a:srgbClr val="A9B8CE"/>
                </a:solidFill>
                <a:latin typeface="DejaVu Sans"/>
                <a:ea typeface="DejaVu Sans"/>
                <a:cs typeface="DejaVu Sans"/>
              </a:defRPr>
            </a:pPr>
          </a:p>
        </c:txPr>
        <c:crossAx val="48650112"/>
        <c:crosses val="autoZero"/>
        <c:crossBetween val="between"/>
        <c:majorUnit val="0.2"/>
      </c:valAx>
      <c:spPr>
        <a:noFill/>
      </c:spPr>
    </c:plotArea>
    <c:plotVisOnly val="1"/>
    <c:dispBlanksAs val="gap"/>
    <c:showDLblsOverMax val="0"/>
    <c:extLst>
      <c:ext uri="{0b15fc19-7d7d-44ad-8c2d-2c3a37ce22c3}">
        <chartProps xmlns="https://web.wps.cn/et/2018/main" chartId="{bea82326-1d7a-444a-b6de-ad14d3d2919c}"/>
      </c:ext>
    </c:extLst>
  </c:chart>
  <c:spPr>
    <a:noFill/>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none"/>
        <c:varyColors val="0"/>
        <c:ser>
          <c:idx val="0"/>
          <c:order val="0"/>
          <c:tx>
            <c:strRef>
              <c:f>Accuracy</c:f>
              <c:strCache>
                <c:ptCount val="1"/>
                <c:pt idx="0">
                  <c:v>Accuracy</c:v>
                </c:pt>
              </c:strCache>
            </c:strRef>
          </c:tx>
          <c:spPr>
            <a:solidFill>
              <a:srgbClr val="56D9C5"/>
            </a:solidFill>
          </c:spPr>
          <c:invertIfNegative val="0"/>
          <c:dPt>
            <c:idx val="0"/>
            <c:invertIfNegative val="0"/>
            <c:bubble3D val="0"/>
            <c:spPr>
              <a:solidFill>
                <a:srgbClr val="82A9EE"/>
              </a:solidFill>
            </c:spPr>
          </c:dPt>
          <c:dPt>
            <c:idx val="1"/>
            <c:invertIfNegative val="0"/>
            <c:bubble3D val="0"/>
            <c:spPr>
              <a:solidFill>
                <a:srgbClr val="56D9C5"/>
              </a:solidFill>
            </c:spPr>
          </c:dPt>
          <c:dLbls>
            <c:numFmt formatCode="0.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Data'!$A$2:$A$3</c:f>
              <c:strCache>
                <c:ptCount val="2"/>
                <c:pt idx="0">
                  <c:v>Rules</c:v>
                </c:pt>
                <c:pt idx="1">
                  <c:v>Hybrid</c:v>
                </c:pt>
              </c:strCache>
            </c:strRef>
          </c:cat>
          <c:val>
            <c:numRef>
              <c:f>'Chart Data'!$B$2:$B$3</c:f>
              <c:numCache>
                <c:formatCode>0.0%</c:formatCode>
                <c:ptCount val="2"/>
                <c:pt idx="0">
                  <c:v>0.83333</c:v>
                </c:pt>
                <c:pt idx="1">
                  <c:v>0.90741</c:v>
                </c:pt>
              </c:numCache>
            </c:numRef>
          </c:val>
        </c:ser>
        <c:dLbls>
          <c:showLegendKey val="0"/>
          <c:showVal val="1"/>
          <c:showCatName val="0"/>
          <c:showSerName val="0"/>
          <c:showPercent val="0"/>
          <c:showBubbleSize val="0"/>
        </c:dLbls>
        <c:gapWidth val="7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A9B8CE"/>
            </a:solidFill>
            <a:prstDash val="solid"/>
            <a:round/>
          </a:ln>
        </c:spPr>
        <c:txPr>
          <a:bodyPr rot="-60000000" spcFirstLastPara="0" vertOverflow="ellipsis" vert="horz" wrap="square" anchor="ctr" anchorCtr="1"/>
          <a:lstStyle/>
          <a:p>
            <a:pPr>
              <a:defRPr lang="en-US" sz="1425" b="0" i="0" u="none" strike="noStrike" kern="1200" baseline="0">
                <a:solidFill>
                  <a:srgbClr val="E5EDF8"/>
                </a:solidFill>
                <a:latin typeface="DejaVu Sans"/>
                <a:ea typeface="DejaVu Sans"/>
                <a:cs typeface="DejaVu Sans"/>
              </a:defRPr>
            </a:pPr>
          </a:p>
        </c:txPr>
        <c:crossAx val="48672768"/>
        <c:crosses val="autoZero"/>
        <c:auto val="1"/>
        <c:lblAlgn val="ctr"/>
        <c:lblOffset val="100"/>
        <c:noMultiLvlLbl val="0"/>
      </c:catAx>
      <c:valAx>
        <c:axId val="48672768"/>
        <c:scaling>
          <c:orientation val="minMax"/>
          <c:max val="1"/>
          <c:min val="0"/>
        </c:scaling>
        <c:delete val="0"/>
        <c:axPos val="l"/>
        <c:majorGridlines>
          <c:spPr>
            <a:ln w="9525">
              <a:solidFill>
                <a:srgbClr val="25364C"/>
              </a:solidFill>
              <a:prstDash val="solid"/>
              <a:round/>
            </a:ln>
          </c:spPr>
        </c:majorGridlines>
        <c:title>
          <c:tx>
            <c:rich>
              <a:bodyPr rot="-5400000" spcFirstLastPara="0" vertOverflow="ellipsis" vert="horz" wrap="square" anchor="ctr" anchorCtr="1"/>
              <a:lstStyle/>
              <a:p>
                <a:pPr>
                  <a:defRPr lang="en-US" sz="1000" b="1" i="0" u="none" strike="noStrike" kern="1200" baseline="0">
                    <a:solidFill>
                      <a:schemeClr val="tx1"/>
                    </a:solidFill>
                    <a:latin typeface="+mn-lt"/>
                    <a:ea typeface="+mn-ea"/>
                    <a:cs typeface="+mn-cs"/>
                  </a:defRPr>
                </a:pPr>
                <a:r>
                  <a:rPr sz="1425">
                    <a:solidFill>
                      <a:srgbClr val="A9B8CE"/>
                    </a:solidFill>
                    <a:latin typeface="DejaVu Sans"/>
                    <a:ea typeface="DejaVu Sans"/>
                    <a:cs typeface="DejaVu Sans"/>
                  </a:rPr>
                  <a:t>Accuracy</a:t>
                </a:r>
                <a:endParaRPr sz="1425">
                  <a:solidFill>
                    <a:srgbClr val="A9B8CE"/>
                  </a:solidFill>
                  <a:latin typeface="DejaVu Sans"/>
                  <a:ea typeface="DejaVu Sans"/>
                  <a:cs typeface="DejaVu Sans"/>
                </a:endParaRPr>
              </a:p>
            </c:rich>
          </c:tx>
          <c:layout/>
          <c:overlay val="0"/>
        </c:title>
        <c:numFmt formatCode="0.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en-US" sz="1350" b="0" i="0" u="none" strike="noStrike" kern="1200" baseline="0">
                <a:solidFill>
                  <a:srgbClr val="A9B8CE"/>
                </a:solidFill>
                <a:latin typeface="DejaVu Sans"/>
                <a:ea typeface="DejaVu Sans"/>
                <a:cs typeface="DejaVu Sans"/>
              </a:defRPr>
            </a:pPr>
          </a:p>
        </c:txPr>
        <c:crossAx val="48650112"/>
        <c:crosses val="autoZero"/>
        <c:crossBetween val="between"/>
        <c:majorUnit val="0.2"/>
      </c:valAx>
      <c:spPr>
        <a:noFill/>
      </c:spPr>
    </c:plotArea>
    <c:plotVisOnly val="1"/>
    <c:dispBlanksAs val="gap"/>
    <c:showDLblsOverMax val="0"/>
    <c:extLst>
      <c:ext uri="{0b15fc19-7d7d-44ad-8c2d-2c3a37ce22c3}">
        <chartProps xmlns="https://web.wps.cn/et/2018/main" chartId="{e7280d4b-55c3-40d9-9850-734574257d86}"/>
      </c:ext>
    </c:extLst>
  </c:chart>
  <c:spPr>
    <a:noFill/>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Fill the candidate and college fields before exporting the final submission. This prototype implements the shared NLP engine and Module B. All positions and risk parameters are hypothetical. AI assistance was used for implementation and documentation.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engine produces sentiment_score, event_classification and impact_score. Severity is a transparent scenario-priority rubric, not a calibrated prediction of an observed return. Financial sentiment and hawkish/dovish policy direction are distinct. See src/risk_engine.py and src/stress_engine.py.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Architecture is editable. Source modules: source_manager, ingestion, risk_engine, nlp_backend, learned_sentiment, event_grouper, stress_engine, store and api.py. Lightweight replay loads the trained sentiment JSON and recorded ModernBERT predictions. Local AI resolves new event text with two CPU threads; no automatic model downloads or polling.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At +100 bps: four bonds lose 23.20M, pay-fixed swap gains 1.25M, net loss 21.95M. At -100 bps the signs reverse. This is a linear sensitivity model, not the realized reaction to a Fed release. Source: data/portfolio.json and docs/sample-output.json.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 docs/benchmark-results.json, docs/training-report.json, data/benchmark_manifest.json. Learned sentiment selects C on development data only, using original publisher training split. Validation has 80 texts per sentiment class. Event set includes all five required classes plus Other. Publisher topic labels are broader; the builder assigned fine event labels. Pretrained-model overlap and near-duplicates cannot be ruled out. Scores are exploratory and do not establish production accuracy. Dataset: https://huggingface.co/datasets/zeroshot/twitter-financial-news-sentiment and https://huggingface.co/datasets/zeroshot/twitter-financial-news-topic.</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 historical SEC exhibit https://www.sec.gov/Archives/edgar/data/84129/000110465923109413/tm2328535d1_ex99-1.htm and synthetic data/portfolio.json. Bond: -20M × 3 × 150/10000 = -0.90M. Loan: 150M × (0.06 - 0.02) × 0.45 = +2.70M incremental one-year ECL. This is not an actual bankruptcy loss or recovery estimate and is not a full IFRS 9 provision.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 docs/impact-check.json, data/public/price_provenance.json, tests/. This code bundle supplies the presentation but personal details, an unlisted video and public repository still require the candidate. Do not promise institutional production readiness or a winning result. AI assistance must be disclosed honestly.</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6.xml"/><Relationship Id="rId2" Type="http://schemas.openxmlformats.org/officeDocument/2006/relationships/chart" Target="../charts/chart3.xml"/><Relationship Id="rId1" Type="http://schemas.openxmlformats.org/officeDocument/2006/relationships/chart" Target="../charts/char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p:sp>
        <p:nvSpPr>
          <p:cNvPr id="7" name="Rectangles 6"/>
          <p:cNvSpPr>
            <a:spLocks noGrp="1"/>
          </p:cNvSpPr>
          <p:nvPr/>
        </p:nvSpPr>
        <p:spPr>
          <a:xfrm>
            <a:off x="619125" y="428625"/>
            <a:ext cx="10953750" cy="809625"/>
          </a:xfrm>
          <a:prstGeom prst="rect">
            <a:avLst/>
          </a:prstGeom>
          <a:noFill/>
          <a:ln w="0">
            <a:noFill/>
          </a:ln>
        </p:spPr>
        <p:txBody>
          <a:bodyPr/>
          <a:lstStyle>
            <a:defPPr>
              <a:defRPr sz="3225" b="1">
                <a:solidFill>
                  <a:srgbClr val="E5EDF8"/>
                </a:solidFill>
                <a:latin typeface="DejaVu Sans"/>
                <a:ea typeface="DejaVu Sans"/>
                <a:cs typeface="DejaVu Sans"/>
              </a:defRPr>
            </a:defPPr>
          </a:lstStyle>
          <a:p>
            <a:pPr>
              <a:defRPr sz="3225" b="1">
                <a:solidFill>
                  <a:srgbClr val="E5EDF8"/>
                </a:solidFill>
                <a:latin typeface="DejaVu Sans"/>
                <a:ea typeface="DejaVu Sans"/>
                <a:cs typeface="DejaVu Sans"/>
              </a:defRPr>
            </a:pPr>
            <a:r>
              <a:rPr sz="3225" b="1">
                <a:solidFill>
                  <a:srgbClr val="E5EDF8"/>
                </a:solidFill>
                <a:latin typeface="DejaVu Sans"/>
                <a:ea typeface="DejaVu Sans"/>
                <a:cs typeface="DejaVu Sans"/>
              </a:rPr>
              <a:t>Event-to-Exposure Risk Radar</a:t>
            </a:r>
            <a:endParaRPr sz="3225" b="1">
              <a:solidFill>
                <a:srgbClr val="E5EDF8"/>
              </a:solidFill>
              <a:latin typeface="DejaVu Sans"/>
              <a:ea typeface="DejaVu Sans"/>
              <a:cs typeface="DejaVu Sans"/>
            </a:endParaRPr>
          </a:p>
        </p:txBody>
      </p:sp>
      <p:sp>
        <p:nvSpPr>
          <p:cNvPr id="2" name="Rectangles 1"/>
          <p:cNvSpPr>
            <a:spLocks noGrp="1"/>
          </p:cNvSpPr>
          <p:nvPr/>
        </p:nvSpPr>
        <p:spPr>
          <a:xfrm>
            <a:off x="11191875" y="6305550"/>
            <a:ext cx="523875" cy="285750"/>
          </a:xfrm>
          <a:prstGeom prst="rect">
            <a:avLst/>
          </a:prstGeom>
          <a:noFill/>
          <a:ln w="0">
            <a:noFill/>
          </a:ln>
        </p:spPr>
        <p:txBody>
          <a:bodyPr/>
          <a:lstStyle>
            <a:defPPr>
              <a:defRPr sz="1500" b="0">
                <a:solidFill>
                  <a:srgbClr val="A9B8CE"/>
                </a:solidFill>
                <a:latin typeface="DejaVu Sans"/>
                <a:ea typeface="DejaVu Sans"/>
                <a:cs typeface="DejaVu Sans"/>
              </a:defRPr>
            </a:defPPr>
          </a:lstStyle>
          <a:p>
            <a:pPr>
              <a:defRPr sz="1500" b="0">
                <a:solidFill>
                  <a:srgbClr val="A9B8CE"/>
                </a:solidFill>
                <a:latin typeface="DejaVu Sans"/>
                <a:ea typeface="DejaVu Sans"/>
                <a:cs typeface="DejaVu Sans"/>
              </a:defRPr>
            </a:pPr>
            <a:r>
              <a:rPr sz="1500" b="0">
                <a:solidFill>
                  <a:srgbClr val="A9B8CE"/>
                </a:solidFill>
                <a:latin typeface="DejaVu Sans"/>
                <a:ea typeface="DejaVu Sans"/>
                <a:cs typeface="DejaVu Sans"/>
              </a:rPr>
              <a:t>01</a:t>
            </a:r>
            <a:endParaRPr sz="1500" b="0">
              <a:solidFill>
                <a:srgbClr val="A9B8CE"/>
              </a:solidFill>
              <a:latin typeface="DejaVu Sans"/>
              <a:ea typeface="DejaVu Sans"/>
              <a:cs typeface="DejaVu Sans"/>
            </a:endParaRPr>
          </a:p>
        </p:txBody>
      </p:sp>
      <p:sp>
        <p:nvSpPr>
          <p:cNvPr id="3" name="Rectangles 2"/>
          <p:cNvSpPr>
            <a:spLocks noGrp="1"/>
          </p:cNvSpPr>
          <p:nvPr/>
        </p:nvSpPr>
        <p:spPr>
          <a:xfrm>
            <a:off x="619125" y="1962150"/>
            <a:ext cx="10572750" cy="1476375"/>
          </a:xfrm>
          <a:prstGeom prst="rect">
            <a:avLst/>
          </a:prstGeom>
          <a:noFill/>
          <a:ln w="0">
            <a:noFill/>
          </a:ln>
        </p:spPr>
        <p:txBody>
          <a:bodyPr/>
          <a:lstStyle>
            <a:defPPr>
              <a:defRPr sz="3600" b="1">
                <a:solidFill>
                  <a:srgbClr val="56D9C5"/>
                </a:solidFill>
                <a:latin typeface="DejaVu Sans"/>
                <a:ea typeface="DejaVu Sans"/>
                <a:cs typeface="DejaVu Sans"/>
              </a:defRPr>
            </a:defPPr>
          </a:lstStyle>
          <a:p>
            <a:pPr>
              <a:defRPr sz="3600" b="1">
                <a:solidFill>
                  <a:srgbClr val="56D9C5"/>
                </a:solidFill>
                <a:latin typeface="DejaVu Sans"/>
                <a:ea typeface="DejaVu Sans"/>
                <a:cs typeface="DejaVu Sans"/>
              </a:defRPr>
            </a:pPr>
            <a:r>
              <a:rPr sz="3600" b="1">
                <a:solidFill>
                  <a:srgbClr val="56D9C5"/>
                </a:solidFill>
                <a:latin typeface="DejaVu Sans"/>
                <a:ea typeface="DejaVu Sans"/>
                <a:cs typeface="DejaVu Sans"/>
              </a:rPr>
              <a:t>Explainable portfolio scenarios</a:t>
            </a:r>
            <a:endParaRPr sz="3600" b="1">
              <a:solidFill>
                <a:srgbClr val="56D9C5"/>
              </a:solidFill>
              <a:latin typeface="DejaVu Sans"/>
              <a:ea typeface="DejaVu Sans"/>
              <a:cs typeface="DejaVu Sans"/>
            </a:endParaRPr>
          </a:p>
          <a:p>
            <a:pPr>
              <a:defRPr sz="3600" b="1">
                <a:solidFill>
                  <a:srgbClr val="56D9C5"/>
                </a:solidFill>
                <a:latin typeface="DejaVu Sans"/>
                <a:ea typeface="DejaVu Sans"/>
                <a:cs typeface="DejaVu Sans"/>
              </a:defRPr>
            </a:pPr>
            <a:r>
              <a:rPr sz="3600" b="1">
                <a:solidFill>
                  <a:srgbClr val="56D9C5"/>
                </a:solidFill>
                <a:latin typeface="DejaVu Sans"/>
                <a:ea typeface="DejaVu Sans"/>
                <a:cs typeface="DejaVu Sans"/>
              </a:rPr>
              <a:t>from public financial text</a:t>
            </a:r>
            <a:endParaRPr sz="3600" b="1">
              <a:solidFill>
                <a:srgbClr val="56D9C5"/>
              </a:solidFill>
              <a:latin typeface="DejaVu Sans"/>
              <a:ea typeface="DejaVu Sans"/>
              <a:cs typeface="DejaVu Sans"/>
            </a:endParaRPr>
          </a:p>
        </p:txBody>
      </p:sp>
      <p:sp>
        <p:nvSpPr>
          <p:cNvPr id="4" name="Rectangles 3"/>
          <p:cNvSpPr>
            <a:spLocks noGrp="1"/>
          </p:cNvSpPr>
          <p:nvPr/>
        </p:nvSpPr>
        <p:spPr>
          <a:xfrm>
            <a:off x="619125" y="3952875"/>
            <a:ext cx="10668000" cy="666750"/>
          </a:xfrm>
          <a:prstGeom prst="rect">
            <a:avLst/>
          </a:prstGeom>
          <a:noFill/>
          <a:ln w="0">
            <a:noFill/>
          </a:ln>
        </p:spPr>
        <p:txBody>
          <a:bodyPr/>
          <a:lstStyle>
            <a:defPPr>
              <a:defRPr sz="2100" b="0">
                <a:solidFill>
                  <a:srgbClr val="E5EDF8"/>
                </a:solidFill>
                <a:latin typeface="DejaVu Sans"/>
                <a:ea typeface="DejaVu Sans"/>
                <a:cs typeface="DejaVu Sans"/>
              </a:defRPr>
            </a:defPPr>
          </a:lstStyle>
          <a:p>
            <a:pPr>
              <a:defRPr sz="2100" b="0">
                <a:solidFill>
                  <a:srgbClr val="E5EDF8"/>
                </a:solidFill>
                <a:latin typeface="DejaVu Sans"/>
                <a:ea typeface="DejaVu Sans"/>
                <a:cs typeface="DejaVu Sans"/>
              </a:defRPr>
            </a:pPr>
            <a:r>
              <a:rPr sz="2100" b="0">
                <a:solidFill>
                  <a:srgbClr val="E5EDF8"/>
                </a:solidFill>
                <a:latin typeface="DejaVu Sans"/>
                <a:ea typeface="DejaVu Sans"/>
                <a:cs typeface="DejaVu Sans"/>
              </a:rPr>
              <a:t>S&amp;P Global &amp; Crisil Campus Hackathon 2026</a:t>
            </a:r>
            <a:endParaRPr sz="2100" b="0">
              <a:solidFill>
                <a:srgbClr val="E5EDF8"/>
              </a:solidFill>
              <a:latin typeface="DejaVu Sans"/>
              <a:ea typeface="DejaVu Sans"/>
              <a:cs typeface="DejaVu Sans"/>
            </a:endParaRPr>
          </a:p>
        </p:txBody>
      </p:sp>
      <p:sp>
        <p:nvSpPr>
          <p:cNvPr id="5" name="Rectangles 4"/>
          <p:cNvSpPr>
            <a:spLocks noGrp="1"/>
          </p:cNvSpPr>
          <p:nvPr/>
        </p:nvSpPr>
        <p:spPr>
          <a:xfrm>
            <a:off x="619125" y="5095875"/>
            <a:ext cx="10477500" cy="619125"/>
          </a:xfrm>
          <a:prstGeom prst="rect">
            <a:avLst/>
          </a:prstGeom>
          <a:noFill/>
          <a:ln w="0">
            <a:noFill/>
          </a:ln>
        </p:spPr>
        <p:txBody>
          <a:bodyPr/>
          <a:lstStyle>
            <a:defPPr>
              <a:defRPr sz="1875" b="0">
                <a:solidFill>
                  <a:srgbClr val="A9B8CE"/>
                </a:solidFill>
                <a:latin typeface="DejaVu Sans"/>
                <a:ea typeface="DejaVu Sans"/>
                <a:cs typeface="DejaVu Sans"/>
              </a:defRPr>
            </a:defPPr>
          </a:lstStyle>
          <a:p>
            <a:pPr>
              <a:defRPr sz="1875" b="0">
                <a:solidFill>
                  <a:srgbClr val="A9B8CE"/>
                </a:solidFill>
                <a:latin typeface="DejaVu Sans"/>
                <a:ea typeface="DejaVu Sans"/>
                <a:cs typeface="DejaVu Sans"/>
              </a:defRPr>
            </a:pPr>
            <a:r>
              <a:rPr lang="en-US" sz="1875" b="0">
                <a:solidFill>
                  <a:srgbClr val="A9B8CE"/>
                </a:solidFill>
                <a:latin typeface="DejaVu Sans"/>
                <a:ea typeface="DejaVu Sans"/>
                <a:cs typeface="DejaVu Sans"/>
              </a:rPr>
              <a:t>VAIBHAVI CHATURVEDI</a:t>
            </a:r>
            <a:r>
              <a:rPr sz="1875" b="0">
                <a:solidFill>
                  <a:srgbClr val="A9B8CE"/>
                </a:solidFill>
                <a:latin typeface="DejaVu Sans"/>
                <a:ea typeface="DejaVu Sans"/>
                <a:cs typeface="DejaVu Sans"/>
              </a:rPr>
              <a:t>     </a:t>
            </a:r>
            <a:r>
              <a:rPr lang="en-US" sz="1875" b="0">
                <a:solidFill>
                  <a:srgbClr val="A9B8CE"/>
                </a:solidFill>
                <a:latin typeface="DejaVu Sans"/>
                <a:ea typeface="DejaVu Sans"/>
                <a:cs typeface="DejaVu Sans"/>
              </a:rPr>
              <a:t>Manipal Institute of Technology, Manipal</a:t>
            </a:r>
            <a:endParaRPr sz="1875" b="0">
              <a:solidFill>
                <a:srgbClr val="A9B8CE"/>
              </a:solidFill>
              <a:latin typeface="DejaVu Sans"/>
              <a:ea typeface="DejaVu Sans"/>
              <a:cs typeface="DejaVu Sans"/>
            </a:endParaRPr>
          </a:p>
        </p:txBody>
      </p:sp>
      <p:sp>
        <p:nvSpPr>
          <p:cNvPr id="6" name="Rectangles 5"/>
          <p:cNvSpPr>
            <a:spLocks noGrp="1"/>
          </p:cNvSpPr>
          <p:nvPr/>
        </p:nvSpPr>
        <p:spPr>
          <a:xfrm>
            <a:off x="619125" y="5943600"/>
            <a:ext cx="10382250" cy="552450"/>
          </a:xfrm>
          <a:prstGeom prst="rect">
            <a:avLst/>
          </a:prstGeom>
          <a:noFill/>
          <a:ln w="0">
            <a:noFill/>
          </a:ln>
        </p:spPr>
        <p:txBody>
          <a:bodyPr/>
          <a:lstStyle>
            <a:defPPr>
              <a:defRPr sz="1425" b="0">
                <a:solidFill>
                  <a:srgbClr val="A9B8CE"/>
                </a:solidFill>
                <a:latin typeface="DejaVu Sans"/>
                <a:ea typeface="DejaVu Sans"/>
                <a:cs typeface="DejaVu Sans"/>
              </a:defRPr>
            </a:defPPr>
          </a:lstStyle>
          <a:p>
            <a:pPr>
              <a:defRPr sz="1425" b="0">
                <a:solidFill>
                  <a:srgbClr val="A9B8CE"/>
                </a:solidFill>
                <a:latin typeface="DejaVu Sans"/>
                <a:ea typeface="DejaVu Sans"/>
                <a:cs typeface="DejaVu Sans"/>
              </a:defRPr>
            </a:pPr>
            <a:r>
              <a:rPr sz="1425" b="0">
                <a:solidFill>
                  <a:srgbClr val="A9B8CE"/>
                </a:solidFill>
                <a:latin typeface="DejaVu Sans"/>
                <a:ea typeface="DejaVu Sans"/>
                <a:cs typeface="DejaVu Sans"/>
              </a:rPr>
              <a:t>Individual submission. Public text, hypothetical holdings and assumed shocks.</a:t>
            </a:r>
            <a:endParaRPr sz="1425" b="0">
              <a:solidFill>
                <a:srgbClr val="A9B8CE"/>
              </a:solidFill>
              <a:latin typeface="DejaVu Sans"/>
              <a:ea typeface="DejaVu Sans"/>
              <a:cs typeface="DejaVu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p:sp>
        <p:nvSpPr>
          <p:cNvPr id="7" name="Rectangles 6"/>
          <p:cNvSpPr>
            <a:spLocks noGrp="1"/>
          </p:cNvSpPr>
          <p:nvPr/>
        </p:nvSpPr>
        <p:spPr>
          <a:xfrm>
            <a:off x="619125" y="428625"/>
            <a:ext cx="10953750" cy="809625"/>
          </a:xfrm>
          <a:prstGeom prst="rect">
            <a:avLst/>
          </a:prstGeom>
          <a:noFill/>
          <a:ln w="0">
            <a:noFill/>
          </a:ln>
        </p:spPr>
        <p:txBody>
          <a:bodyPr/>
          <a:lstStyle>
            <a:defPPr>
              <a:defRPr sz="3225" b="1">
                <a:solidFill>
                  <a:srgbClr val="E5EDF8"/>
                </a:solidFill>
                <a:latin typeface="DejaVu Sans"/>
                <a:ea typeface="DejaVu Sans"/>
                <a:cs typeface="DejaVu Sans"/>
              </a:defRPr>
            </a:defPPr>
          </a:lstStyle>
          <a:p>
            <a:pPr>
              <a:defRPr sz="3225" b="1">
                <a:solidFill>
                  <a:srgbClr val="E5EDF8"/>
                </a:solidFill>
                <a:latin typeface="DejaVu Sans"/>
                <a:ea typeface="DejaVu Sans"/>
                <a:cs typeface="DejaVu Sans"/>
              </a:defRPr>
            </a:pPr>
            <a:r>
              <a:rPr sz="3225" b="1">
                <a:solidFill>
                  <a:srgbClr val="E5EDF8"/>
                </a:solidFill>
                <a:latin typeface="DejaVu Sans"/>
                <a:ea typeface="DejaVu Sans"/>
                <a:cs typeface="DejaVu Sans"/>
              </a:rPr>
              <a:t>The portfolio question</a:t>
            </a:r>
            <a:endParaRPr sz="3225" b="1">
              <a:solidFill>
                <a:srgbClr val="E5EDF8"/>
              </a:solidFill>
              <a:latin typeface="DejaVu Sans"/>
              <a:ea typeface="DejaVu Sans"/>
              <a:cs typeface="DejaVu Sans"/>
            </a:endParaRPr>
          </a:p>
        </p:txBody>
      </p:sp>
      <p:sp>
        <p:nvSpPr>
          <p:cNvPr id="2" name="Rectangles 1"/>
          <p:cNvSpPr>
            <a:spLocks noGrp="1"/>
          </p:cNvSpPr>
          <p:nvPr/>
        </p:nvSpPr>
        <p:spPr>
          <a:xfrm>
            <a:off x="11191875" y="6305550"/>
            <a:ext cx="523875" cy="285750"/>
          </a:xfrm>
          <a:prstGeom prst="rect">
            <a:avLst/>
          </a:prstGeom>
          <a:noFill/>
          <a:ln w="0">
            <a:noFill/>
          </a:ln>
        </p:spPr>
        <p:txBody>
          <a:bodyPr/>
          <a:lstStyle>
            <a:defPPr>
              <a:defRPr sz="1500" b="0">
                <a:solidFill>
                  <a:srgbClr val="A9B8CE"/>
                </a:solidFill>
                <a:latin typeface="DejaVu Sans"/>
                <a:ea typeface="DejaVu Sans"/>
                <a:cs typeface="DejaVu Sans"/>
              </a:defRPr>
            </a:defPPr>
          </a:lstStyle>
          <a:p>
            <a:pPr>
              <a:defRPr sz="1500" b="0">
                <a:solidFill>
                  <a:srgbClr val="A9B8CE"/>
                </a:solidFill>
                <a:latin typeface="DejaVu Sans"/>
                <a:ea typeface="DejaVu Sans"/>
                <a:cs typeface="DejaVu Sans"/>
              </a:defRPr>
            </a:pPr>
            <a:r>
              <a:rPr sz="1500" b="0">
                <a:solidFill>
                  <a:srgbClr val="A9B8CE"/>
                </a:solidFill>
                <a:latin typeface="DejaVu Sans"/>
                <a:ea typeface="DejaVu Sans"/>
                <a:cs typeface="DejaVu Sans"/>
              </a:rPr>
              <a:t>02</a:t>
            </a:r>
            <a:endParaRPr sz="1500" b="0">
              <a:solidFill>
                <a:srgbClr val="A9B8CE"/>
              </a:solidFill>
              <a:latin typeface="DejaVu Sans"/>
              <a:ea typeface="DejaVu Sans"/>
              <a:cs typeface="DejaVu Sans"/>
            </a:endParaRPr>
          </a:p>
        </p:txBody>
      </p:sp>
      <p:sp>
        <p:nvSpPr>
          <p:cNvPr id="3" name="Rectangles 2"/>
          <p:cNvSpPr>
            <a:spLocks noGrp="1"/>
          </p:cNvSpPr>
          <p:nvPr/>
        </p:nvSpPr>
        <p:spPr>
          <a:xfrm>
            <a:off x="619125" y="1571625"/>
            <a:ext cx="10763250" cy="876300"/>
          </a:xfrm>
          <a:prstGeom prst="rect">
            <a:avLst/>
          </a:prstGeom>
          <a:noFill/>
          <a:ln w="0">
            <a:noFill/>
          </a:ln>
        </p:spPr>
        <p:txBody>
          <a:bodyPr/>
          <a:lstStyle>
            <a:defPPr>
              <a:defRPr sz="3000" b="1">
                <a:solidFill>
                  <a:srgbClr val="56D9C5"/>
                </a:solidFill>
                <a:latin typeface="DejaVu Sans"/>
                <a:ea typeface="DejaVu Sans"/>
                <a:cs typeface="DejaVu Sans"/>
              </a:defRPr>
            </a:defPPr>
          </a:lstStyle>
          <a:p>
            <a:pPr>
              <a:defRPr sz="3000" b="1">
                <a:solidFill>
                  <a:srgbClr val="56D9C5"/>
                </a:solidFill>
                <a:latin typeface="DejaVu Sans"/>
                <a:ea typeface="DejaVu Sans"/>
                <a:cs typeface="DejaVu Sans"/>
              </a:defRPr>
            </a:pPr>
            <a:r>
              <a:rPr sz="3000" b="1">
                <a:solidFill>
                  <a:srgbClr val="56D9C5"/>
                </a:solidFill>
                <a:latin typeface="DejaVu Sans"/>
                <a:ea typeface="DejaVu Sans"/>
                <a:cs typeface="DejaVu Sans"/>
              </a:rPr>
              <a:t>Which holdings does this report affect?</a:t>
            </a:r>
            <a:endParaRPr sz="3000" b="1">
              <a:solidFill>
                <a:srgbClr val="56D9C5"/>
              </a:solidFill>
              <a:latin typeface="DejaVu Sans"/>
              <a:ea typeface="DejaVu Sans"/>
              <a:cs typeface="DejaVu Sans"/>
            </a:endParaRPr>
          </a:p>
        </p:txBody>
      </p:sp>
      <p:sp>
        <p:nvSpPr>
          <p:cNvPr id="4" name="Rectangles 3"/>
          <p:cNvSpPr>
            <a:spLocks noGrp="1"/>
          </p:cNvSpPr>
          <p:nvPr/>
        </p:nvSpPr>
        <p:spPr>
          <a:xfrm>
            <a:off x="619125" y="2667000"/>
            <a:ext cx="10572750" cy="1476375"/>
          </a:xfrm>
          <a:prstGeom prst="rect">
            <a:avLst/>
          </a:prstGeom>
          <a:noFill/>
          <a:ln w="0">
            <a:noFill/>
          </a:ln>
        </p:spPr>
        <p:txBody>
          <a:bodyPr/>
          <a:lstStyle>
            <a:defPPr>
              <a:defRPr sz="2250" b="0">
                <a:solidFill>
                  <a:srgbClr val="E5EDF8"/>
                </a:solidFill>
                <a:latin typeface="DejaVu Sans"/>
                <a:ea typeface="DejaVu Sans"/>
                <a:cs typeface="DejaVu Sans"/>
              </a:defRPr>
            </a:defPPr>
          </a:lstStyle>
          <a:p>
            <a:pPr>
              <a:defRPr sz="2250" b="0">
                <a:solidFill>
                  <a:srgbClr val="E5EDF8"/>
                </a:solidFill>
                <a:latin typeface="DejaVu Sans"/>
                <a:ea typeface="DejaVu Sans"/>
                <a:cs typeface="DejaVu Sans"/>
              </a:defRPr>
            </a:pPr>
            <a:r>
              <a:rPr sz="2250" b="0">
                <a:solidFill>
                  <a:srgbClr val="E5EDF8"/>
                </a:solidFill>
                <a:latin typeface="DejaVu Sans"/>
                <a:ea typeface="DejaVu Sans"/>
                <a:cs typeface="DejaVu Sans"/>
              </a:rPr>
              <a:t>A policy-rate decision affects fixed-rate bonds and the rates hedge.</a:t>
            </a:r>
            <a:endParaRPr sz="2250" b="0">
              <a:solidFill>
                <a:srgbClr val="E5EDF8"/>
              </a:solidFill>
              <a:latin typeface="DejaVu Sans"/>
              <a:ea typeface="DejaVu Sans"/>
              <a:cs typeface="DejaVu Sans"/>
            </a:endParaRPr>
          </a:p>
          <a:p>
            <a:pPr>
              <a:defRPr sz="2250" b="0">
                <a:solidFill>
                  <a:srgbClr val="E5EDF8"/>
                </a:solidFill>
                <a:latin typeface="DejaVu Sans"/>
                <a:ea typeface="DejaVu Sans"/>
                <a:cs typeface="DejaVu Sans"/>
              </a:defRPr>
            </a:pPr>
            <a:r>
              <a:rPr sz="2250" b="0">
                <a:solidFill>
                  <a:srgbClr val="E5EDF8"/>
                </a:solidFill>
                <a:latin typeface="DejaVu Sans"/>
                <a:ea typeface="DejaVu Sans"/>
                <a:cs typeface="DejaVu Sans"/>
              </a:rPr>
              <a:t>A borrower default affects that borrower’s loan and bond.</a:t>
            </a:r>
            <a:endParaRPr sz="2250" b="0">
              <a:solidFill>
                <a:srgbClr val="E5EDF8"/>
              </a:solidFill>
              <a:latin typeface="DejaVu Sans"/>
              <a:ea typeface="DejaVu Sans"/>
              <a:cs typeface="DejaVu Sans"/>
            </a:endParaRPr>
          </a:p>
        </p:txBody>
      </p:sp>
      <p:sp>
        <p:nvSpPr>
          <p:cNvPr id="5" name="Rectangles 4"/>
          <p:cNvSpPr>
            <a:spLocks noGrp="1"/>
          </p:cNvSpPr>
          <p:nvPr/>
        </p:nvSpPr>
        <p:spPr>
          <a:xfrm>
            <a:off x="619125" y="4410075"/>
            <a:ext cx="10477500" cy="1095375"/>
          </a:xfrm>
          <a:prstGeom prst="rect">
            <a:avLst/>
          </a:prstGeom>
          <a:noFill/>
          <a:ln w="0">
            <a:noFill/>
          </a:ln>
        </p:spPr>
        <p:txBody>
          <a:bodyPr/>
          <a:lstStyle>
            <a:defPPr>
              <a:defRPr sz="2025" b="0">
                <a:solidFill>
                  <a:srgbClr val="A9B8CE"/>
                </a:solidFill>
                <a:latin typeface="DejaVu Sans"/>
                <a:ea typeface="DejaVu Sans"/>
                <a:cs typeface="DejaVu Sans"/>
              </a:defRPr>
            </a:defPPr>
          </a:lstStyle>
          <a:p>
            <a:pPr>
              <a:defRPr sz="2025" b="0">
                <a:solidFill>
                  <a:srgbClr val="A9B8CE"/>
                </a:solidFill>
                <a:latin typeface="DejaVu Sans"/>
                <a:ea typeface="DejaVu Sans"/>
                <a:cs typeface="DejaVu Sans"/>
              </a:defRPr>
            </a:pPr>
            <a:r>
              <a:rPr sz="2025" b="0">
                <a:solidFill>
                  <a:srgbClr val="A9B8CE"/>
                </a:solidFill>
                <a:latin typeface="DejaVu Sans"/>
                <a:ea typeface="DejaVu Sans"/>
                <a:cs typeface="DejaVu Sans"/>
              </a:rPr>
              <a:t>The engine links structured text signals to explicit exposure rules.</a:t>
            </a:r>
            <a:endParaRPr sz="2025" b="0">
              <a:solidFill>
                <a:srgbClr val="A9B8CE"/>
              </a:solidFill>
              <a:latin typeface="DejaVu Sans"/>
              <a:ea typeface="DejaVu Sans"/>
              <a:cs typeface="DejaVu Sans"/>
            </a:endParaRPr>
          </a:p>
          <a:p>
            <a:pPr>
              <a:defRPr sz="2025" b="0">
                <a:solidFill>
                  <a:srgbClr val="A9B8CE"/>
                </a:solidFill>
                <a:latin typeface="DejaVu Sans"/>
                <a:ea typeface="DejaVu Sans"/>
                <a:cs typeface="DejaVu Sans"/>
              </a:defRPr>
            </a:pPr>
            <a:r>
              <a:rPr sz="2025" b="0">
                <a:solidFill>
                  <a:srgbClr val="A9B8CE"/>
                </a:solidFill>
                <a:latin typeface="DejaVu Sans"/>
                <a:ea typeface="DejaVu Sans"/>
                <a:cs typeface="DejaVu Sans"/>
              </a:rPr>
              <a:t>Analysts inspect evidence, choose shocks and review the calculation.</a:t>
            </a:r>
            <a:endParaRPr sz="2025" b="0">
              <a:solidFill>
                <a:srgbClr val="A9B8CE"/>
              </a:solidFill>
              <a:latin typeface="DejaVu Sans"/>
              <a:ea typeface="DejaVu Sans"/>
              <a:cs typeface="DejaVu Sans"/>
            </a:endParaRPr>
          </a:p>
        </p:txBody>
      </p:sp>
      <p:sp>
        <p:nvSpPr>
          <p:cNvPr id="6" name="Rectangles 5"/>
          <p:cNvSpPr>
            <a:spLocks noGrp="1"/>
          </p:cNvSpPr>
          <p:nvPr/>
        </p:nvSpPr>
        <p:spPr>
          <a:xfrm>
            <a:off x="619125" y="5943600"/>
            <a:ext cx="10382250" cy="552450"/>
          </a:xfrm>
          <a:prstGeom prst="rect">
            <a:avLst/>
          </a:prstGeom>
          <a:noFill/>
          <a:ln w="0">
            <a:noFill/>
          </a:ln>
        </p:spPr>
        <p:txBody>
          <a:bodyPr/>
          <a:lstStyle>
            <a:defPPr>
              <a:defRPr sz="1425" b="0">
                <a:solidFill>
                  <a:srgbClr val="A9B8CE"/>
                </a:solidFill>
                <a:latin typeface="DejaVu Sans"/>
                <a:ea typeface="DejaVu Sans"/>
                <a:cs typeface="DejaVu Sans"/>
              </a:defRPr>
            </a:defPPr>
          </a:lstStyle>
          <a:p>
            <a:pPr>
              <a:defRPr sz="1425" b="0">
                <a:solidFill>
                  <a:srgbClr val="A9B8CE"/>
                </a:solidFill>
                <a:latin typeface="DejaVu Sans"/>
                <a:ea typeface="DejaVu Sans"/>
                <a:cs typeface="DejaVu Sans"/>
              </a:defRPr>
            </a:pPr>
            <a:r>
              <a:rPr sz="1425" b="0">
                <a:solidFill>
                  <a:srgbClr val="A9B8CE"/>
                </a:solidFill>
                <a:latin typeface="DejaVu Sans"/>
                <a:ea typeface="DejaVu Sans"/>
                <a:cs typeface="DejaVu Sans"/>
              </a:rPr>
              <a:t>Sentiment, event type and a 1–10 severity rubric form the downstream signal.</a:t>
            </a:r>
            <a:endParaRPr sz="1425" b="0">
              <a:solidFill>
                <a:srgbClr val="A9B8CE"/>
              </a:solidFill>
              <a:latin typeface="DejaVu Sans"/>
              <a:ea typeface="DejaVu Sans"/>
              <a:cs typeface="DejaVu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p:sp>
        <p:nvSpPr>
          <p:cNvPr id="27" name="Rectangles 26"/>
          <p:cNvSpPr>
            <a:spLocks noGrp="1"/>
          </p:cNvSpPr>
          <p:nvPr/>
        </p:nvSpPr>
        <p:spPr>
          <a:xfrm>
            <a:off x="619125" y="428625"/>
            <a:ext cx="10953750" cy="809625"/>
          </a:xfrm>
          <a:prstGeom prst="rect">
            <a:avLst/>
          </a:prstGeom>
          <a:noFill/>
          <a:ln w="0">
            <a:noFill/>
          </a:ln>
        </p:spPr>
        <p:txBody>
          <a:bodyPr/>
          <a:lstStyle>
            <a:defPPr>
              <a:defRPr sz="3225" b="1">
                <a:solidFill>
                  <a:srgbClr val="E5EDF8"/>
                </a:solidFill>
                <a:latin typeface="DejaVu Sans"/>
                <a:ea typeface="DejaVu Sans"/>
                <a:cs typeface="DejaVu Sans"/>
              </a:defRPr>
            </a:defPPr>
          </a:lstStyle>
          <a:p>
            <a:pPr>
              <a:defRPr sz="3225" b="1">
                <a:solidFill>
                  <a:srgbClr val="E5EDF8"/>
                </a:solidFill>
                <a:latin typeface="DejaVu Sans"/>
                <a:ea typeface="DejaVu Sans"/>
                <a:cs typeface="DejaVu Sans"/>
              </a:defRPr>
            </a:pPr>
            <a:r>
              <a:rPr sz="3225" b="1">
                <a:solidFill>
                  <a:srgbClr val="E5EDF8"/>
                </a:solidFill>
                <a:latin typeface="DejaVu Sans"/>
                <a:ea typeface="DejaVu Sans"/>
                <a:cs typeface="DejaVu Sans"/>
              </a:rPr>
              <a:t>System design</a:t>
            </a:r>
            <a:endParaRPr sz="3225" b="1">
              <a:solidFill>
                <a:srgbClr val="E5EDF8"/>
              </a:solidFill>
              <a:latin typeface="DejaVu Sans"/>
              <a:ea typeface="DejaVu Sans"/>
              <a:cs typeface="DejaVu Sans"/>
            </a:endParaRPr>
          </a:p>
        </p:txBody>
      </p:sp>
      <p:sp>
        <p:nvSpPr>
          <p:cNvPr id="2" name="Rectangles 1"/>
          <p:cNvSpPr>
            <a:spLocks noGrp="1"/>
          </p:cNvSpPr>
          <p:nvPr/>
        </p:nvSpPr>
        <p:spPr>
          <a:xfrm>
            <a:off x="11191875" y="6305550"/>
            <a:ext cx="523875" cy="285750"/>
          </a:xfrm>
          <a:prstGeom prst="rect">
            <a:avLst/>
          </a:prstGeom>
          <a:noFill/>
          <a:ln w="0">
            <a:noFill/>
          </a:ln>
        </p:spPr>
        <p:txBody>
          <a:bodyPr/>
          <a:lstStyle>
            <a:defPPr>
              <a:defRPr sz="1500" b="0">
                <a:solidFill>
                  <a:srgbClr val="A9B8CE"/>
                </a:solidFill>
                <a:latin typeface="DejaVu Sans"/>
                <a:ea typeface="DejaVu Sans"/>
                <a:cs typeface="DejaVu Sans"/>
              </a:defRPr>
            </a:defPPr>
          </a:lstStyle>
          <a:p>
            <a:pPr>
              <a:defRPr sz="1500" b="0">
                <a:solidFill>
                  <a:srgbClr val="A9B8CE"/>
                </a:solidFill>
                <a:latin typeface="DejaVu Sans"/>
                <a:ea typeface="DejaVu Sans"/>
                <a:cs typeface="DejaVu Sans"/>
              </a:defRPr>
            </a:pPr>
            <a:r>
              <a:rPr sz="1500" b="0">
                <a:solidFill>
                  <a:srgbClr val="A9B8CE"/>
                </a:solidFill>
                <a:latin typeface="DejaVu Sans"/>
                <a:ea typeface="DejaVu Sans"/>
                <a:cs typeface="DejaVu Sans"/>
              </a:rPr>
              <a:t>03</a:t>
            </a:r>
            <a:endParaRPr sz="1500" b="0">
              <a:solidFill>
                <a:srgbClr val="A9B8CE"/>
              </a:solidFill>
              <a:latin typeface="DejaVu Sans"/>
              <a:ea typeface="DejaVu Sans"/>
              <a:cs typeface="DejaVu Sans"/>
            </a:endParaRPr>
          </a:p>
        </p:txBody>
      </p:sp>
      <p:sp>
        <p:nvSpPr>
          <p:cNvPr id="3" name="Rectangles 2"/>
          <p:cNvSpPr>
            <a:spLocks noGrp="1"/>
          </p:cNvSpPr>
          <p:nvPr/>
        </p:nvSpPr>
        <p:spPr>
          <a:xfrm>
            <a:off x="619125" y="1666875"/>
            <a:ext cx="3190875" cy="1428750"/>
          </a:xfrm>
          <a:prstGeom prst="rect">
            <a:avLst/>
          </a:prstGeom>
          <a:solidFill>
            <a:srgbClr val="121E32"/>
          </a:solidFill>
          <a:ln w="14288">
            <a:solidFill>
              <a:srgbClr val="38506D"/>
            </a:solidFill>
          </a:ln>
        </p:spPr>
      </p:sp>
      <p:sp>
        <p:nvSpPr>
          <p:cNvPr id="4" name="Rectangles 3"/>
          <p:cNvSpPr>
            <a:spLocks noGrp="1"/>
          </p:cNvSpPr>
          <p:nvPr/>
        </p:nvSpPr>
        <p:spPr>
          <a:xfrm>
            <a:off x="790575" y="1809750"/>
            <a:ext cx="2847975" cy="381000"/>
          </a:xfrm>
          <a:prstGeom prst="rect">
            <a:avLst/>
          </a:prstGeom>
          <a:noFill/>
          <a:ln w="0">
            <a:noFill/>
          </a:ln>
        </p:spPr>
        <p:txBody>
          <a:bodyPr/>
          <a:lstStyle>
            <a:defPPr>
              <a:defRPr sz="1875" b="1">
                <a:solidFill>
                  <a:srgbClr val="56D9C5"/>
                </a:solidFill>
                <a:latin typeface="DejaVu Sans"/>
                <a:ea typeface="DejaVu Sans"/>
                <a:cs typeface="DejaVu Sans"/>
              </a:defRPr>
            </a:defPPr>
          </a:lstStyle>
          <a:p>
            <a:pPr>
              <a:defRPr sz="1875" b="1">
                <a:solidFill>
                  <a:srgbClr val="56D9C5"/>
                </a:solidFill>
                <a:latin typeface="DejaVu Sans"/>
                <a:ea typeface="DejaVu Sans"/>
                <a:cs typeface="DejaVu Sans"/>
              </a:defRPr>
            </a:pPr>
            <a:r>
              <a:rPr sz="1875" b="1">
                <a:solidFill>
                  <a:srgbClr val="56D9C5"/>
                </a:solidFill>
                <a:latin typeface="DejaVu Sans"/>
                <a:ea typeface="DejaVu Sans"/>
                <a:cs typeface="DejaVu Sans"/>
              </a:rPr>
              <a:t>Public input</a:t>
            </a:r>
            <a:endParaRPr sz="1875" b="1">
              <a:solidFill>
                <a:srgbClr val="56D9C5"/>
              </a:solidFill>
              <a:latin typeface="DejaVu Sans"/>
              <a:ea typeface="DejaVu Sans"/>
              <a:cs typeface="DejaVu Sans"/>
            </a:endParaRPr>
          </a:p>
        </p:txBody>
      </p:sp>
      <p:sp>
        <p:nvSpPr>
          <p:cNvPr id="5" name="Rectangles 4"/>
          <p:cNvSpPr>
            <a:spLocks noGrp="1"/>
          </p:cNvSpPr>
          <p:nvPr/>
        </p:nvSpPr>
        <p:spPr>
          <a:xfrm>
            <a:off x="790575" y="2228850"/>
            <a:ext cx="2847975" cy="819150"/>
          </a:xfrm>
          <a:prstGeom prst="rect">
            <a:avLst/>
          </a:prstGeom>
          <a:noFill/>
          <a:ln w="0">
            <a:noFill/>
          </a:ln>
        </p:spPr>
        <p:txBody>
          <a:bodyPr/>
          <a:lstStyle>
            <a:defPPr>
              <a:defRPr sz="1575" b="0">
                <a:solidFill>
                  <a:srgbClr val="E5EDF8"/>
                </a:solidFill>
                <a:latin typeface="DejaVu Sans"/>
                <a:ea typeface="DejaVu Sans"/>
                <a:cs typeface="DejaVu Sans"/>
              </a:defRPr>
            </a:defPPr>
          </a:lstStyle>
          <a:p>
            <a:pPr>
              <a:defRPr sz="1575" b="0">
                <a:solidFill>
                  <a:srgbClr val="E5EDF8"/>
                </a:solidFill>
                <a:latin typeface="DejaVu Sans"/>
                <a:ea typeface="DejaVu Sans"/>
                <a:cs typeface="DejaVu Sans"/>
              </a:defRPr>
            </a:pPr>
            <a:r>
              <a:rPr sz="1575" b="0">
                <a:solidFill>
                  <a:srgbClr val="E5EDF8"/>
                </a:solidFill>
                <a:latin typeface="DejaVu Sans"/>
                <a:ea typeface="DejaVu Sans"/>
                <a:cs typeface="DejaVu Sans"/>
              </a:rPr>
              <a:t>News / social titles</a:t>
            </a:r>
            <a:endParaRPr sz="1575" b="0">
              <a:solidFill>
                <a:srgbClr val="E5EDF8"/>
              </a:solidFill>
              <a:latin typeface="DejaVu Sans"/>
              <a:ea typeface="DejaVu Sans"/>
              <a:cs typeface="DejaVu Sans"/>
            </a:endParaRPr>
          </a:p>
          <a:p>
            <a:pPr>
              <a:defRPr sz="1575" b="0">
                <a:solidFill>
                  <a:srgbClr val="E5EDF8"/>
                </a:solidFill>
                <a:latin typeface="DejaVu Sans"/>
                <a:ea typeface="DejaVu Sans"/>
                <a:cs typeface="DejaVu Sans"/>
              </a:defRPr>
            </a:pPr>
            <a:r>
              <a:rPr sz="1575" b="0">
                <a:solidFill>
                  <a:srgbClr val="E5EDF8"/>
                </a:solidFill>
                <a:latin typeface="DejaVu Sans"/>
                <a:ea typeface="DejaVu Sans"/>
                <a:cs typeface="DejaVu Sans"/>
              </a:rPr>
              <a:t>Replay and live RSS</a:t>
            </a:r>
            <a:endParaRPr sz="1575" b="0">
              <a:solidFill>
                <a:srgbClr val="E5EDF8"/>
              </a:solidFill>
              <a:latin typeface="DejaVu Sans"/>
              <a:ea typeface="DejaVu Sans"/>
              <a:cs typeface="DejaVu Sans"/>
            </a:endParaRPr>
          </a:p>
        </p:txBody>
      </p:sp>
      <p:sp>
        <p:nvSpPr>
          <p:cNvPr id="6" name="Rectangles 5"/>
          <p:cNvSpPr>
            <a:spLocks noGrp="1"/>
          </p:cNvSpPr>
          <p:nvPr/>
        </p:nvSpPr>
        <p:spPr>
          <a:xfrm>
            <a:off x="4429125" y="1666875"/>
            <a:ext cx="3190875" cy="1428750"/>
          </a:xfrm>
          <a:prstGeom prst="rect">
            <a:avLst/>
          </a:prstGeom>
          <a:solidFill>
            <a:srgbClr val="121E32"/>
          </a:solidFill>
          <a:ln w="14288">
            <a:solidFill>
              <a:srgbClr val="38506D"/>
            </a:solidFill>
          </a:ln>
        </p:spPr>
      </p:sp>
      <p:sp>
        <p:nvSpPr>
          <p:cNvPr id="7" name="Rectangles 6"/>
          <p:cNvSpPr>
            <a:spLocks noGrp="1"/>
          </p:cNvSpPr>
          <p:nvPr/>
        </p:nvSpPr>
        <p:spPr>
          <a:xfrm>
            <a:off x="4600575" y="1809750"/>
            <a:ext cx="2847975" cy="381000"/>
          </a:xfrm>
          <a:prstGeom prst="rect">
            <a:avLst/>
          </a:prstGeom>
          <a:noFill/>
          <a:ln w="0">
            <a:noFill/>
          </a:ln>
        </p:spPr>
        <p:txBody>
          <a:bodyPr/>
          <a:lstStyle>
            <a:defPPr>
              <a:defRPr sz="1875" b="1">
                <a:solidFill>
                  <a:srgbClr val="56D9C5"/>
                </a:solidFill>
                <a:latin typeface="DejaVu Sans"/>
                <a:ea typeface="DejaVu Sans"/>
                <a:cs typeface="DejaVu Sans"/>
              </a:defRPr>
            </a:defPPr>
          </a:lstStyle>
          <a:p>
            <a:pPr>
              <a:defRPr sz="1875" b="1">
                <a:solidFill>
                  <a:srgbClr val="56D9C5"/>
                </a:solidFill>
                <a:latin typeface="DejaVu Sans"/>
                <a:ea typeface="DejaVu Sans"/>
                <a:cs typeface="DejaVu Sans"/>
              </a:defRPr>
            </a:pPr>
            <a:r>
              <a:rPr sz="1875" b="1">
                <a:solidFill>
                  <a:srgbClr val="56D9C5"/>
                </a:solidFill>
                <a:latin typeface="DejaVu Sans"/>
                <a:ea typeface="DejaVu Sans"/>
                <a:cs typeface="DejaVu Sans"/>
              </a:rPr>
              <a:t>NLP engine</a:t>
            </a:r>
            <a:endParaRPr sz="1875" b="1">
              <a:solidFill>
                <a:srgbClr val="56D9C5"/>
              </a:solidFill>
              <a:latin typeface="DejaVu Sans"/>
              <a:ea typeface="DejaVu Sans"/>
              <a:cs typeface="DejaVu Sans"/>
            </a:endParaRPr>
          </a:p>
        </p:txBody>
      </p:sp>
      <p:sp>
        <p:nvSpPr>
          <p:cNvPr id="8" name="Rectangles 7"/>
          <p:cNvSpPr>
            <a:spLocks noGrp="1"/>
          </p:cNvSpPr>
          <p:nvPr/>
        </p:nvSpPr>
        <p:spPr>
          <a:xfrm>
            <a:off x="4600575" y="2228850"/>
            <a:ext cx="2847975" cy="819150"/>
          </a:xfrm>
          <a:prstGeom prst="rect">
            <a:avLst/>
          </a:prstGeom>
          <a:noFill/>
          <a:ln w="0">
            <a:noFill/>
          </a:ln>
        </p:spPr>
        <p:txBody>
          <a:bodyPr/>
          <a:lstStyle>
            <a:defPPr>
              <a:defRPr sz="1575" b="0">
                <a:solidFill>
                  <a:srgbClr val="E5EDF8"/>
                </a:solidFill>
                <a:latin typeface="DejaVu Sans"/>
                <a:ea typeface="DejaVu Sans"/>
                <a:cs typeface="DejaVu Sans"/>
              </a:defRPr>
            </a:defPPr>
          </a:lstStyle>
          <a:p>
            <a:pPr>
              <a:defRPr sz="1575" b="0">
                <a:solidFill>
                  <a:srgbClr val="E5EDF8"/>
                </a:solidFill>
                <a:latin typeface="DejaVu Sans"/>
                <a:ea typeface="DejaVu Sans"/>
                <a:cs typeface="DejaVu Sans"/>
              </a:defRPr>
            </a:pPr>
            <a:r>
              <a:rPr sz="1575" b="0">
                <a:solidFill>
                  <a:srgbClr val="E5EDF8"/>
                </a:solidFill>
                <a:latin typeface="DejaVu Sans"/>
                <a:ea typeface="DejaVu Sans"/>
                <a:cs typeface="DejaVu Sans"/>
              </a:rPr>
              <a:t>Trained sentiment</a:t>
            </a:r>
            <a:endParaRPr sz="1575" b="0">
              <a:solidFill>
                <a:srgbClr val="E5EDF8"/>
              </a:solidFill>
              <a:latin typeface="DejaVu Sans"/>
              <a:ea typeface="DejaVu Sans"/>
              <a:cs typeface="DejaVu Sans"/>
            </a:endParaRPr>
          </a:p>
          <a:p>
            <a:pPr>
              <a:defRPr sz="1575" b="0">
                <a:solidFill>
                  <a:srgbClr val="E5EDF8"/>
                </a:solidFill>
                <a:latin typeface="DejaVu Sans"/>
                <a:ea typeface="DejaVu Sans"/>
                <a:cs typeface="DejaVu Sans"/>
              </a:defRPr>
            </a:pPr>
            <a:r>
              <a:rPr sz="1575" b="0">
                <a:solidFill>
                  <a:srgbClr val="E5EDF8"/>
                </a:solidFill>
                <a:latin typeface="DejaVu Sans"/>
                <a:ea typeface="DejaVu Sans"/>
                <a:cs typeface="DejaVu Sans"/>
              </a:rPr>
              <a:t>Semantic event model</a:t>
            </a:r>
            <a:endParaRPr sz="1575" b="0">
              <a:solidFill>
                <a:srgbClr val="E5EDF8"/>
              </a:solidFill>
              <a:latin typeface="DejaVu Sans"/>
              <a:ea typeface="DejaVu Sans"/>
              <a:cs typeface="DejaVu Sans"/>
            </a:endParaRPr>
          </a:p>
        </p:txBody>
      </p:sp>
      <p:sp>
        <p:nvSpPr>
          <p:cNvPr id="9" name="Rectangles 8"/>
          <p:cNvSpPr>
            <a:spLocks noGrp="1"/>
          </p:cNvSpPr>
          <p:nvPr/>
        </p:nvSpPr>
        <p:spPr>
          <a:xfrm>
            <a:off x="8239125" y="1666875"/>
            <a:ext cx="3190875" cy="1428750"/>
          </a:xfrm>
          <a:prstGeom prst="rect">
            <a:avLst/>
          </a:prstGeom>
          <a:solidFill>
            <a:srgbClr val="121E32"/>
          </a:solidFill>
          <a:ln w="14288">
            <a:solidFill>
              <a:srgbClr val="38506D"/>
            </a:solidFill>
          </a:ln>
        </p:spPr>
      </p:sp>
      <p:sp>
        <p:nvSpPr>
          <p:cNvPr id="10" name="Rectangles 9"/>
          <p:cNvSpPr>
            <a:spLocks noGrp="1"/>
          </p:cNvSpPr>
          <p:nvPr/>
        </p:nvSpPr>
        <p:spPr>
          <a:xfrm>
            <a:off x="8410575" y="1809750"/>
            <a:ext cx="2847975" cy="381000"/>
          </a:xfrm>
          <a:prstGeom prst="rect">
            <a:avLst/>
          </a:prstGeom>
          <a:noFill/>
          <a:ln w="0">
            <a:noFill/>
          </a:ln>
        </p:spPr>
        <p:txBody>
          <a:bodyPr/>
          <a:lstStyle>
            <a:defPPr>
              <a:defRPr sz="1875" b="1">
                <a:solidFill>
                  <a:srgbClr val="56D9C5"/>
                </a:solidFill>
                <a:latin typeface="DejaVu Sans"/>
                <a:ea typeface="DejaVu Sans"/>
                <a:cs typeface="DejaVu Sans"/>
              </a:defRPr>
            </a:defPPr>
          </a:lstStyle>
          <a:p>
            <a:pPr>
              <a:defRPr sz="1875" b="1">
                <a:solidFill>
                  <a:srgbClr val="56D9C5"/>
                </a:solidFill>
                <a:latin typeface="DejaVu Sans"/>
                <a:ea typeface="DejaVu Sans"/>
                <a:cs typeface="DejaVu Sans"/>
              </a:defRPr>
            </a:pPr>
            <a:r>
              <a:rPr sz="1875" b="1">
                <a:solidFill>
                  <a:srgbClr val="56D9C5"/>
                </a:solidFill>
                <a:latin typeface="DejaVu Sans"/>
                <a:ea typeface="DejaVu Sans"/>
                <a:cs typeface="DejaVu Sans"/>
              </a:rPr>
              <a:t>Review gates</a:t>
            </a:r>
            <a:endParaRPr sz="1875" b="1">
              <a:solidFill>
                <a:srgbClr val="56D9C5"/>
              </a:solidFill>
              <a:latin typeface="DejaVu Sans"/>
              <a:ea typeface="DejaVu Sans"/>
              <a:cs typeface="DejaVu Sans"/>
            </a:endParaRPr>
          </a:p>
        </p:txBody>
      </p:sp>
      <p:sp>
        <p:nvSpPr>
          <p:cNvPr id="11" name="Rectangles 10"/>
          <p:cNvSpPr>
            <a:spLocks noGrp="1"/>
          </p:cNvSpPr>
          <p:nvPr/>
        </p:nvSpPr>
        <p:spPr>
          <a:xfrm>
            <a:off x="8410575" y="2228850"/>
            <a:ext cx="2847975" cy="819150"/>
          </a:xfrm>
          <a:prstGeom prst="rect">
            <a:avLst/>
          </a:prstGeom>
          <a:noFill/>
          <a:ln w="0">
            <a:noFill/>
          </a:ln>
        </p:spPr>
        <p:txBody>
          <a:bodyPr/>
          <a:lstStyle>
            <a:defPPr>
              <a:defRPr sz="1575" b="0">
                <a:solidFill>
                  <a:srgbClr val="E5EDF8"/>
                </a:solidFill>
                <a:latin typeface="DejaVu Sans"/>
                <a:ea typeface="DejaVu Sans"/>
                <a:cs typeface="DejaVu Sans"/>
              </a:defRPr>
            </a:defPPr>
          </a:lstStyle>
          <a:p>
            <a:pPr>
              <a:defRPr sz="1575" b="0">
                <a:solidFill>
                  <a:srgbClr val="E5EDF8"/>
                </a:solidFill>
                <a:latin typeface="DejaVu Sans"/>
                <a:ea typeface="DejaVu Sans"/>
                <a:cs typeface="DejaVu Sans"/>
              </a:defRPr>
            </a:pPr>
            <a:r>
              <a:rPr sz="1575" b="0">
                <a:solidFill>
                  <a:srgbClr val="E5EDF8"/>
                </a:solidFill>
                <a:latin typeface="DejaVu Sans"/>
                <a:ea typeface="DejaVu Sans"/>
                <a:cs typeface="DejaVu Sans"/>
              </a:rPr>
              <a:t>Assertion and direction</a:t>
            </a:r>
            <a:endParaRPr sz="1575" b="0">
              <a:solidFill>
                <a:srgbClr val="E5EDF8"/>
              </a:solidFill>
              <a:latin typeface="DejaVu Sans"/>
              <a:ea typeface="DejaVu Sans"/>
              <a:cs typeface="DejaVu Sans"/>
            </a:endParaRPr>
          </a:p>
          <a:p>
            <a:pPr>
              <a:defRPr sz="1575" b="0">
                <a:solidFill>
                  <a:srgbClr val="E5EDF8"/>
                </a:solidFill>
                <a:latin typeface="DejaVu Sans"/>
                <a:ea typeface="DejaVu Sans"/>
                <a:cs typeface="DejaVu Sans"/>
              </a:defRPr>
            </a:pPr>
            <a:r>
              <a:rPr sz="1575" b="0">
                <a:solidFill>
                  <a:srgbClr val="E5EDF8"/>
                </a:solidFill>
                <a:latin typeface="DejaVu Sans"/>
                <a:ea typeface="DejaVu Sans"/>
                <a:cs typeface="DejaVu Sans"/>
              </a:rPr>
              <a:t>Currency and severity</a:t>
            </a:r>
            <a:endParaRPr sz="1575" b="0">
              <a:solidFill>
                <a:srgbClr val="E5EDF8"/>
              </a:solidFill>
              <a:latin typeface="DejaVu Sans"/>
              <a:ea typeface="DejaVu Sans"/>
              <a:cs typeface="DejaVu Sans"/>
            </a:endParaRPr>
          </a:p>
        </p:txBody>
      </p:sp>
      <p:sp>
        <p:nvSpPr>
          <p:cNvPr id="12" name="Right Arrow 11"/>
          <p:cNvSpPr>
            <a:spLocks noGrp="1"/>
          </p:cNvSpPr>
          <p:nvPr/>
        </p:nvSpPr>
        <p:spPr>
          <a:xfrm>
            <a:off x="3905250" y="2276475"/>
            <a:ext cx="476250" cy="171450"/>
          </a:xfrm>
          <a:prstGeom prst="rightArrow">
            <a:avLst/>
          </a:prstGeom>
          <a:solidFill>
            <a:srgbClr val="82A9EE"/>
          </a:solidFill>
          <a:ln w="0">
            <a:noFill/>
          </a:ln>
        </p:spPr>
      </p:sp>
      <p:sp>
        <p:nvSpPr>
          <p:cNvPr id="13" name="Right Arrow 12"/>
          <p:cNvSpPr>
            <a:spLocks noGrp="1"/>
          </p:cNvSpPr>
          <p:nvPr/>
        </p:nvSpPr>
        <p:spPr>
          <a:xfrm>
            <a:off x="7715250" y="2276475"/>
            <a:ext cx="476250" cy="171450"/>
          </a:xfrm>
          <a:prstGeom prst="rightArrow">
            <a:avLst/>
          </a:prstGeom>
          <a:solidFill>
            <a:srgbClr val="82A9EE"/>
          </a:solidFill>
          <a:ln w="0">
            <a:noFill/>
          </a:ln>
        </p:spPr>
      </p:sp>
      <p:sp>
        <p:nvSpPr>
          <p:cNvPr id="14" name="Down Arrow 13"/>
          <p:cNvSpPr>
            <a:spLocks noGrp="1"/>
          </p:cNvSpPr>
          <p:nvPr/>
        </p:nvSpPr>
        <p:spPr>
          <a:xfrm>
            <a:off x="9715500" y="3190875"/>
            <a:ext cx="238125" cy="495300"/>
          </a:xfrm>
          <a:prstGeom prst="downArrow">
            <a:avLst/>
          </a:prstGeom>
          <a:solidFill>
            <a:srgbClr val="82A9EE"/>
          </a:solidFill>
          <a:ln w="0">
            <a:noFill/>
          </a:ln>
        </p:spPr>
      </p:sp>
      <p:sp>
        <p:nvSpPr>
          <p:cNvPr id="15" name="Rectangles 14"/>
          <p:cNvSpPr>
            <a:spLocks noGrp="1"/>
          </p:cNvSpPr>
          <p:nvPr/>
        </p:nvSpPr>
        <p:spPr>
          <a:xfrm>
            <a:off x="619125" y="3829050"/>
            <a:ext cx="3190875" cy="1428750"/>
          </a:xfrm>
          <a:prstGeom prst="rect">
            <a:avLst/>
          </a:prstGeom>
          <a:solidFill>
            <a:srgbClr val="121E32"/>
          </a:solidFill>
          <a:ln w="14288">
            <a:solidFill>
              <a:srgbClr val="38506D"/>
            </a:solidFill>
          </a:ln>
        </p:spPr>
      </p:sp>
      <p:sp>
        <p:nvSpPr>
          <p:cNvPr id="16" name="Rectangles 15"/>
          <p:cNvSpPr>
            <a:spLocks noGrp="1"/>
          </p:cNvSpPr>
          <p:nvPr/>
        </p:nvSpPr>
        <p:spPr>
          <a:xfrm>
            <a:off x="790575" y="3971925"/>
            <a:ext cx="2847975" cy="381000"/>
          </a:xfrm>
          <a:prstGeom prst="rect">
            <a:avLst/>
          </a:prstGeom>
          <a:noFill/>
          <a:ln w="0">
            <a:noFill/>
          </a:ln>
        </p:spPr>
        <p:txBody>
          <a:bodyPr/>
          <a:lstStyle>
            <a:defPPr>
              <a:defRPr sz="1875" b="1">
                <a:solidFill>
                  <a:srgbClr val="56D9C5"/>
                </a:solidFill>
                <a:latin typeface="DejaVu Sans"/>
                <a:ea typeface="DejaVu Sans"/>
                <a:cs typeface="DejaVu Sans"/>
              </a:defRPr>
            </a:defPPr>
          </a:lstStyle>
          <a:p>
            <a:pPr>
              <a:defRPr sz="1875" b="1">
                <a:solidFill>
                  <a:srgbClr val="56D9C5"/>
                </a:solidFill>
                <a:latin typeface="DejaVu Sans"/>
                <a:ea typeface="DejaVu Sans"/>
                <a:cs typeface="DejaVu Sans"/>
              </a:defRPr>
            </a:pPr>
            <a:r>
              <a:rPr sz="1875" b="1">
                <a:solidFill>
                  <a:srgbClr val="56D9C5"/>
                </a:solidFill>
                <a:latin typeface="DejaVu Sans"/>
                <a:ea typeface="DejaVu Sans"/>
                <a:cs typeface="DejaVu Sans"/>
              </a:rPr>
              <a:t>Signals and history</a:t>
            </a:r>
            <a:endParaRPr sz="1875" b="1">
              <a:solidFill>
                <a:srgbClr val="56D9C5"/>
              </a:solidFill>
              <a:latin typeface="DejaVu Sans"/>
              <a:ea typeface="DejaVu Sans"/>
              <a:cs typeface="DejaVu Sans"/>
            </a:endParaRPr>
          </a:p>
        </p:txBody>
      </p:sp>
      <p:sp>
        <p:nvSpPr>
          <p:cNvPr id="17" name="Rectangles 16"/>
          <p:cNvSpPr>
            <a:spLocks noGrp="1"/>
          </p:cNvSpPr>
          <p:nvPr/>
        </p:nvSpPr>
        <p:spPr>
          <a:xfrm>
            <a:off x="790575" y="4391025"/>
            <a:ext cx="2847975" cy="819150"/>
          </a:xfrm>
          <a:prstGeom prst="rect">
            <a:avLst/>
          </a:prstGeom>
          <a:noFill/>
          <a:ln w="0">
            <a:noFill/>
          </a:ln>
        </p:spPr>
        <p:txBody>
          <a:bodyPr/>
          <a:lstStyle>
            <a:defPPr>
              <a:defRPr sz="1575" b="0">
                <a:solidFill>
                  <a:srgbClr val="E5EDF8"/>
                </a:solidFill>
                <a:latin typeface="DejaVu Sans"/>
                <a:ea typeface="DejaVu Sans"/>
                <a:cs typeface="DejaVu Sans"/>
              </a:defRPr>
            </a:defPPr>
          </a:lstStyle>
          <a:p>
            <a:pPr>
              <a:defRPr sz="1575" b="0">
                <a:solidFill>
                  <a:srgbClr val="E5EDF8"/>
                </a:solidFill>
                <a:latin typeface="DejaVu Sans"/>
                <a:ea typeface="DejaVu Sans"/>
                <a:cs typeface="DejaVu Sans"/>
              </a:defRPr>
            </a:pPr>
            <a:r>
              <a:rPr sz="1575" b="0">
                <a:solidFill>
                  <a:srgbClr val="E5EDF8"/>
                </a:solidFill>
                <a:latin typeface="DejaVu Sans"/>
                <a:ea typeface="DejaVu Sans"/>
                <a:cs typeface="DejaVu Sans"/>
              </a:rPr>
              <a:t>SQLite observations</a:t>
            </a:r>
            <a:endParaRPr sz="1575" b="0">
              <a:solidFill>
                <a:srgbClr val="E5EDF8"/>
              </a:solidFill>
              <a:latin typeface="DejaVu Sans"/>
              <a:ea typeface="DejaVu Sans"/>
              <a:cs typeface="DejaVu Sans"/>
            </a:endParaRPr>
          </a:p>
          <a:p>
            <a:pPr>
              <a:defRPr sz="1575" b="0">
                <a:solidFill>
                  <a:srgbClr val="E5EDF8"/>
                </a:solidFill>
                <a:latin typeface="DejaVu Sans"/>
                <a:ea typeface="DejaVu Sans"/>
                <a:cs typeface="DejaVu Sans"/>
              </a:defRPr>
            </a:pPr>
            <a:r>
              <a:rPr sz="1575" b="0">
                <a:solidFill>
                  <a:srgbClr val="E5EDF8"/>
                </a:solidFill>
                <a:latin typeface="DejaVu Sans"/>
                <a:ea typeface="DejaVu Sans"/>
                <a:cs typeface="DejaVu Sans"/>
              </a:rPr>
              <a:t>JSON and local REST API</a:t>
            </a:r>
            <a:endParaRPr sz="1575" b="0">
              <a:solidFill>
                <a:srgbClr val="E5EDF8"/>
              </a:solidFill>
              <a:latin typeface="DejaVu Sans"/>
              <a:ea typeface="DejaVu Sans"/>
              <a:cs typeface="DejaVu Sans"/>
            </a:endParaRPr>
          </a:p>
        </p:txBody>
      </p:sp>
      <p:sp>
        <p:nvSpPr>
          <p:cNvPr id="18" name="Rectangles 17"/>
          <p:cNvSpPr>
            <a:spLocks noGrp="1"/>
          </p:cNvSpPr>
          <p:nvPr/>
        </p:nvSpPr>
        <p:spPr>
          <a:xfrm>
            <a:off x="4429125" y="3829050"/>
            <a:ext cx="3190875" cy="1428750"/>
          </a:xfrm>
          <a:prstGeom prst="rect">
            <a:avLst/>
          </a:prstGeom>
          <a:solidFill>
            <a:srgbClr val="121E32"/>
          </a:solidFill>
          <a:ln w="14288">
            <a:solidFill>
              <a:srgbClr val="38506D"/>
            </a:solidFill>
          </a:ln>
        </p:spPr>
      </p:sp>
      <p:sp>
        <p:nvSpPr>
          <p:cNvPr id="19" name="Rectangles 18"/>
          <p:cNvSpPr>
            <a:spLocks noGrp="1"/>
          </p:cNvSpPr>
          <p:nvPr/>
        </p:nvSpPr>
        <p:spPr>
          <a:xfrm>
            <a:off x="4600575" y="3971925"/>
            <a:ext cx="2847975" cy="381000"/>
          </a:xfrm>
          <a:prstGeom prst="rect">
            <a:avLst/>
          </a:prstGeom>
          <a:noFill/>
          <a:ln w="0">
            <a:noFill/>
          </a:ln>
        </p:spPr>
        <p:txBody>
          <a:bodyPr/>
          <a:lstStyle>
            <a:defPPr>
              <a:defRPr sz="1875" b="1">
                <a:solidFill>
                  <a:srgbClr val="56D9C5"/>
                </a:solidFill>
                <a:latin typeface="DejaVu Sans"/>
                <a:ea typeface="DejaVu Sans"/>
                <a:cs typeface="DejaVu Sans"/>
              </a:defRPr>
            </a:defPPr>
          </a:lstStyle>
          <a:p>
            <a:pPr>
              <a:defRPr sz="1875" b="1">
                <a:solidFill>
                  <a:srgbClr val="56D9C5"/>
                </a:solidFill>
                <a:latin typeface="DejaVu Sans"/>
                <a:ea typeface="DejaVu Sans"/>
                <a:cs typeface="DejaVu Sans"/>
              </a:defRPr>
            </a:pPr>
            <a:r>
              <a:rPr sz="1875" b="1">
                <a:solidFill>
                  <a:srgbClr val="56D9C5"/>
                </a:solidFill>
                <a:latin typeface="DejaVu Sans"/>
                <a:ea typeface="DejaVu Sans"/>
                <a:cs typeface="DejaVu Sans"/>
              </a:rPr>
              <a:t>Stress scenarios</a:t>
            </a:r>
            <a:endParaRPr sz="1875" b="1">
              <a:solidFill>
                <a:srgbClr val="56D9C5"/>
              </a:solidFill>
              <a:latin typeface="DejaVu Sans"/>
              <a:ea typeface="DejaVu Sans"/>
              <a:cs typeface="DejaVu Sans"/>
            </a:endParaRPr>
          </a:p>
        </p:txBody>
      </p:sp>
      <p:sp>
        <p:nvSpPr>
          <p:cNvPr id="20" name="Rectangles 19"/>
          <p:cNvSpPr>
            <a:spLocks noGrp="1"/>
          </p:cNvSpPr>
          <p:nvPr/>
        </p:nvSpPr>
        <p:spPr>
          <a:xfrm>
            <a:off x="4600575" y="4391025"/>
            <a:ext cx="2847975" cy="819150"/>
          </a:xfrm>
          <a:prstGeom prst="rect">
            <a:avLst/>
          </a:prstGeom>
          <a:noFill/>
          <a:ln w="0">
            <a:noFill/>
          </a:ln>
        </p:spPr>
        <p:txBody>
          <a:bodyPr/>
          <a:lstStyle>
            <a:defPPr>
              <a:defRPr sz="1575" b="0">
                <a:solidFill>
                  <a:srgbClr val="E5EDF8"/>
                </a:solidFill>
                <a:latin typeface="DejaVu Sans"/>
                <a:ea typeface="DejaVu Sans"/>
                <a:cs typeface="DejaVu Sans"/>
              </a:defRPr>
            </a:defPPr>
          </a:lstStyle>
          <a:p>
            <a:pPr>
              <a:defRPr sz="1575" b="0">
                <a:solidFill>
                  <a:srgbClr val="E5EDF8"/>
                </a:solidFill>
                <a:latin typeface="DejaVu Sans"/>
                <a:ea typeface="DejaVu Sans"/>
                <a:cs typeface="DejaVu Sans"/>
              </a:defRPr>
            </a:pPr>
            <a:r>
              <a:rPr sz="1575" b="0">
                <a:solidFill>
                  <a:srgbClr val="E5EDF8"/>
                </a:solidFill>
                <a:latin typeface="DejaVu Sans"/>
                <a:ea typeface="DejaVu Sans"/>
                <a:cs typeface="DejaVu Sans"/>
              </a:rPr>
              <a:t>Signed bond / swap P&amp;L</a:t>
            </a:r>
            <a:endParaRPr sz="1575" b="0">
              <a:solidFill>
                <a:srgbClr val="E5EDF8"/>
              </a:solidFill>
              <a:latin typeface="DejaVu Sans"/>
              <a:ea typeface="DejaVu Sans"/>
              <a:cs typeface="DejaVu Sans"/>
            </a:endParaRPr>
          </a:p>
          <a:p>
            <a:pPr>
              <a:defRPr sz="1575" b="0">
                <a:solidFill>
                  <a:srgbClr val="E5EDF8"/>
                </a:solidFill>
                <a:latin typeface="DejaVu Sans"/>
                <a:ea typeface="DejaVu Sans"/>
                <a:cs typeface="DejaVu Sans"/>
              </a:defRPr>
            </a:pPr>
            <a:r>
              <a:rPr sz="1575" b="0">
                <a:solidFill>
                  <a:srgbClr val="E5EDF8"/>
                </a:solidFill>
                <a:latin typeface="DejaVu Sans"/>
                <a:ea typeface="DejaVu Sans"/>
                <a:cs typeface="DejaVu Sans"/>
              </a:rPr>
              <a:t>Separate credit loss</a:t>
            </a:r>
            <a:endParaRPr sz="1575" b="0">
              <a:solidFill>
                <a:srgbClr val="E5EDF8"/>
              </a:solidFill>
              <a:latin typeface="DejaVu Sans"/>
              <a:ea typeface="DejaVu Sans"/>
              <a:cs typeface="DejaVu Sans"/>
            </a:endParaRPr>
          </a:p>
        </p:txBody>
      </p:sp>
      <p:sp>
        <p:nvSpPr>
          <p:cNvPr id="21" name="Rectangles 20"/>
          <p:cNvSpPr>
            <a:spLocks noGrp="1"/>
          </p:cNvSpPr>
          <p:nvPr/>
        </p:nvSpPr>
        <p:spPr>
          <a:xfrm>
            <a:off x="8239125" y="3829050"/>
            <a:ext cx="3190875" cy="1428750"/>
          </a:xfrm>
          <a:prstGeom prst="rect">
            <a:avLst/>
          </a:prstGeom>
          <a:solidFill>
            <a:srgbClr val="121E32"/>
          </a:solidFill>
          <a:ln w="14288">
            <a:solidFill>
              <a:srgbClr val="38506D"/>
            </a:solidFill>
          </a:ln>
        </p:spPr>
      </p:sp>
      <p:sp>
        <p:nvSpPr>
          <p:cNvPr id="22" name="Rectangles 21"/>
          <p:cNvSpPr>
            <a:spLocks noGrp="1"/>
          </p:cNvSpPr>
          <p:nvPr/>
        </p:nvSpPr>
        <p:spPr>
          <a:xfrm>
            <a:off x="8410575" y="3971925"/>
            <a:ext cx="2847975" cy="381000"/>
          </a:xfrm>
          <a:prstGeom prst="rect">
            <a:avLst/>
          </a:prstGeom>
          <a:noFill/>
          <a:ln w="0">
            <a:noFill/>
          </a:ln>
        </p:spPr>
        <p:txBody>
          <a:bodyPr/>
          <a:lstStyle>
            <a:defPPr>
              <a:defRPr sz="1875" b="1">
                <a:solidFill>
                  <a:srgbClr val="56D9C5"/>
                </a:solidFill>
                <a:latin typeface="DejaVu Sans"/>
                <a:ea typeface="DejaVu Sans"/>
                <a:cs typeface="DejaVu Sans"/>
              </a:defRPr>
            </a:defPPr>
          </a:lstStyle>
          <a:p>
            <a:pPr>
              <a:defRPr sz="1875" b="1">
                <a:solidFill>
                  <a:srgbClr val="56D9C5"/>
                </a:solidFill>
                <a:latin typeface="DejaVu Sans"/>
                <a:ea typeface="DejaVu Sans"/>
                <a:cs typeface="DejaVu Sans"/>
              </a:defRPr>
            </a:pPr>
            <a:r>
              <a:rPr sz="1875" b="1">
                <a:solidFill>
                  <a:srgbClr val="56D9C5"/>
                </a:solidFill>
                <a:latin typeface="DejaVu Sans"/>
                <a:ea typeface="DejaVu Sans"/>
                <a:cs typeface="DejaVu Sans"/>
              </a:rPr>
              <a:t>Exposure mapping</a:t>
            </a:r>
            <a:endParaRPr sz="1875" b="1">
              <a:solidFill>
                <a:srgbClr val="56D9C5"/>
              </a:solidFill>
              <a:latin typeface="DejaVu Sans"/>
              <a:ea typeface="DejaVu Sans"/>
              <a:cs typeface="DejaVu Sans"/>
            </a:endParaRPr>
          </a:p>
        </p:txBody>
      </p:sp>
      <p:sp>
        <p:nvSpPr>
          <p:cNvPr id="23" name="Rectangles 22"/>
          <p:cNvSpPr>
            <a:spLocks noGrp="1"/>
          </p:cNvSpPr>
          <p:nvPr/>
        </p:nvSpPr>
        <p:spPr>
          <a:xfrm>
            <a:off x="8410575" y="4391025"/>
            <a:ext cx="2847975" cy="819150"/>
          </a:xfrm>
          <a:prstGeom prst="rect">
            <a:avLst/>
          </a:prstGeom>
          <a:noFill/>
          <a:ln w="0">
            <a:noFill/>
          </a:ln>
        </p:spPr>
        <p:txBody>
          <a:bodyPr/>
          <a:lstStyle>
            <a:defPPr>
              <a:defRPr sz="1575" b="0">
                <a:solidFill>
                  <a:srgbClr val="E5EDF8"/>
                </a:solidFill>
                <a:latin typeface="DejaVu Sans"/>
                <a:ea typeface="DejaVu Sans"/>
                <a:cs typeface="DejaVu Sans"/>
              </a:defRPr>
            </a:defPPr>
          </a:lstStyle>
          <a:p>
            <a:pPr>
              <a:defRPr sz="1575" b="0">
                <a:solidFill>
                  <a:srgbClr val="E5EDF8"/>
                </a:solidFill>
                <a:latin typeface="DejaVu Sans"/>
                <a:ea typeface="DejaVu Sans"/>
                <a:cs typeface="DejaVu Sans"/>
              </a:defRPr>
            </a:pPr>
            <a:r>
              <a:rPr sz="1575" b="0">
                <a:solidFill>
                  <a:srgbClr val="E5EDF8"/>
                </a:solidFill>
                <a:latin typeface="DejaVu Sans"/>
                <a:ea typeface="DejaVu Sans"/>
                <a:cs typeface="DejaVu Sans"/>
              </a:rPr>
              <a:t>Company / sector match</a:t>
            </a:r>
            <a:endParaRPr sz="1575" b="0">
              <a:solidFill>
                <a:srgbClr val="E5EDF8"/>
              </a:solidFill>
              <a:latin typeface="DejaVu Sans"/>
              <a:ea typeface="DejaVu Sans"/>
              <a:cs typeface="DejaVu Sans"/>
            </a:endParaRPr>
          </a:p>
          <a:p>
            <a:pPr>
              <a:defRPr sz="1575" b="0">
                <a:solidFill>
                  <a:srgbClr val="E5EDF8"/>
                </a:solidFill>
                <a:latin typeface="DejaVu Sans"/>
                <a:ea typeface="DejaVu Sans"/>
                <a:cs typeface="DejaVu Sans"/>
              </a:defRPr>
            </a:pPr>
            <a:r>
              <a:rPr sz="1575" b="0">
                <a:solidFill>
                  <a:srgbClr val="E5EDF8"/>
                </a:solidFill>
                <a:latin typeface="DejaVu Sans"/>
                <a:ea typeface="DejaVu Sans"/>
                <a:cs typeface="DejaVu Sans"/>
              </a:rPr>
              <a:t>Asset and currency rules</a:t>
            </a:r>
            <a:endParaRPr sz="1575" b="0">
              <a:solidFill>
                <a:srgbClr val="E5EDF8"/>
              </a:solidFill>
              <a:latin typeface="DejaVu Sans"/>
              <a:ea typeface="DejaVu Sans"/>
              <a:cs typeface="DejaVu Sans"/>
            </a:endParaRPr>
          </a:p>
        </p:txBody>
      </p:sp>
      <p:sp>
        <p:nvSpPr>
          <p:cNvPr id="24" name="Left Arrow 23"/>
          <p:cNvSpPr>
            <a:spLocks noGrp="1"/>
          </p:cNvSpPr>
          <p:nvPr/>
        </p:nvSpPr>
        <p:spPr>
          <a:xfrm>
            <a:off x="7715250" y="4429125"/>
            <a:ext cx="476250" cy="171450"/>
          </a:xfrm>
          <a:prstGeom prst="leftArrow">
            <a:avLst/>
          </a:prstGeom>
          <a:solidFill>
            <a:srgbClr val="82A9EE"/>
          </a:solidFill>
          <a:ln w="0">
            <a:noFill/>
          </a:ln>
        </p:spPr>
      </p:sp>
      <p:sp>
        <p:nvSpPr>
          <p:cNvPr id="25" name="Left Arrow 24"/>
          <p:cNvSpPr>
            <a:spLocks noGrp="1"/>
          </p:cNvSpPr>
          <p:nvPr/>
        </p:nvSpPr>
        <p:spPr>
          <a:xfrm>
            <a:off x="3905250" y="4429125"/>
            <a:ext cx="476250" cy="171450"/>
          </a:xfrm>
          <a:prstGeom prst="leftArrow">
            <a:avLst/>
          </a:prstGeom>
          <a:solidFill>
            <a:srgbClr val="82A9EE"/>
          </a:solidFill>
          <a:ln w="0">
            <a:noFill/>
          </a:ln>
        </p:spPr>
      </p:sp>
      <p:sp>
        <p:nvSpPr>
          <p:cNvPr id="26" name="Rectangles 25"/>
          <p:cNvSpPr>
            <a:spLocks noGrp="1"/>
          </p:cNvSpPr>
          <p:nvPr/>
        </p:nvSpPr>
        <p:spPr>
          <a:xfrm>
            <a:off x="619125" y="5943600"/>
            <a:ext cx="10382250" cy="552450"/>
          </a:xfrm>
          <a:prstGeom prst="rect">
            <a:avLst/>
          </a:prstGeom>
          <a:noFill/>
          <a:ln w="0">
            <a:noFill/>
          </a:ln>
        </p:spPr>
        <p:txBody>
          <a:bodyPr/>
          <a:lstStyle>
            <a:defPPr>
              <a:defRPr sz="1425" b="0">
                <a:solidFill>
                  <a:srgbClr val="A9B8CE"/>
                </a:solidFill>
                <a:latin typeface="DejaVu Sans"/>
                <a:ea typeface="DejaVu Sans"/>
                <a:cs typeface="DejaVu Sans"/>
              </a:defRPr>
            </a:defPPr>
          </a:lstStyle>
          <a:p>
            <a:pPr>
              <a:defRPr sz="1425" b="0">
                <a:solidFill>
                  <a:srgbClr val="A9B8CE"/>
                </a:solidFill>
                <a:latin typeface="DejaVu Sans"/>
                <a:ea typeface="DejaVu Sans"/>
                <a:cs typeface="DejaVu Sans"/>
              </a:defRPr>
            </a:pPr>
            <a:r>
              <a:rPr sz="1425" b="0">
                <a:solidFill>
                  <a:srgbClr val="A9B8CE"/>
                </a:solidFill>
                <a:latin typeface="DejaVu Sans"/>
                <a:ea typeface="DejaVu Sans"/>
                <a:cs typeface="DejaVu Sans"/>
              </a:rPr>
              <a:t>Uncertain reports pause automatic stress. An explicit what-if never verifies the source.</a:t>
            </a:r>
            <a:endParaRPr sz="1425" b="0">
              <a:solidFill>
                <a:srgbClr val="A9B8CE"/>
              </a:solidFill>
              <a:latin typeface="DejaVu Sans"/>
              <a:ea typeface="DejaVu Sans"/>
              <a:cs typeface="DejaVu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p:sp>
        <p:nvSpPr>
          <p:cNvPr id="10" name="Rectangles 9"/>
          <p:cNvSpPr>
            <a:spLocks noGrp="1"/>
          </p:cNvSpPr>
          <p:nvPr/>
        </p:nvSpPr>
        <p:spPr>
          <a:xfrm>
            <a:off x="619125" y="428625"/>
            <a:ext cx="10953750" cy="809625"/>
          </a:xfrm>
          <a:prstGeom prst="rect">
            <a:avLst/>
          </a:prstGeom>
          <a:noFill/>
          <a:ln w="0">
            <a:noFill/>
          </a:ln>
        </p:spPr>
        <p:txBody>
          <a:bodyPr/>
          <a:lstStyle>
            <a:defPPr>
              <a:defRPr sz="3225" b="1">
                <a:solidFill>
                  <a:srgbClr val="E5EDF8"/>
                </a:solidFill>
                <a:latin typeface="DejaVu Sans"/>
                <a:ea typeface="DejaVu Sans"/>
                <a:cs typeface="DejaVu Sans"/>
              </a:defRPr>
            </a:defPPr>
          </a:lstStyle>
          <a:p>
            <a:pPr>
              <a:defRPr sz="3225" b="1">
                <a:solidFill>
                  <a:srgbClr val="E5EDF8"/>
                </a:solidFill>
                <a:latin typeface="DejaVu Sans"/>
                <a:ea typeface="DejaVu Sans"/>
                <a:cs typeface="DejaVu Sans"/>
              </a:defRPr>
            </a:pPr>
            <a:r>
              <a:rPr sz="3225" b="1">
                <a:solidFill>
                  <a:srgbClr val="E5EDF8"/>
                </a:solidFill>
                <a:latin typeface="DejaVu Sans"/>
                <a:ea typeface="DejaVu Sans"/>
                <a:cs typeface="DejaVu Sans"/>
              </a:rPr>
              <a:t>Rates and the hedge</a:t>
            </a:r>
            <a:endParaRPr sz="3225" b="1">
              <a:solidFill>
                <a:srgbClr val="E5EDF8"/>
              </a:solidFill>
              <a:latin typeface="DejaVu Sans"/>
              <a:ea typeface="DejaVu Sans"/>
              <a:cs typeface="DejaVu Sans"/>
            </a:endParaRPr>
          </a:p>
        </p:txBody>
      </p:sp>
      <p:sp>
        <p:nvSpPr>
          <p:cNvPr id="2" name="Rectangles 1"/>
          <p:cNvSpPr>
            <a:spLocks noGrp="1"/>
          </p:cNvSpPr>
          <p:nvPr/>
        </p:nvSpPr>
        <p:spPr>
          <a:xfrm>
            <a:off x="11191875" y="6305550"/>
            <a:ext cx="523875" cy="285750"/>
          </a:xfrm>
          <a:prstGeom prst="rect">
            <a:avLst/>
          </a:prstGeom>
          <a:noFill/>
          <a:ln w="0">
            <a:noFill/>
          </a:ln>
        </p:spPr>
        <p:txBody>
          <a:bodyPr/>
          <a:lstStyle>
            <a:defPPr>
              <a:defRPr sz="1500" b="0">
                <a:solidFill>
                  <a:srgbClr val="A9B8CE"/>
                </a:solidFill>
                <a:latin typeface="DejaVu Sans"/>
                <a:ea typeface="DejaVu Sans"/>
                <a:cs typeface="DejaVu Sans"/>
              </a:defRPr>
            </a:defPPr>
          </a:lstStyle>
          <a:p>
            <a:pPr>
              <a:defRPr sz="1500" b="0">
                <a:solidFill>
                  <a:srgbClr val="A9B8CE"/>
                </a:solidFill>
                <a:latin typeface="DejaVu Sans"/>
                <a:ea typeface="DejaVu Sans"/>
                <a:cs typeface="DejaVu Sans"/>
              </a:defRPr>
            </a:pPr>
            <a:r>
              <a:rPr sz="1500" b="0">
                <a:solidFill>
                  <a:srgbClr val="A9B8CE"/>
                </a:solidFill>
                <a:latin typeface="DejaVu Sans"/>
                <a:ea typeface="DejaVu Sans"/>
                <a:cs typeface="DejaVu Sans"/>
              </a:rPr>
              <a:t>04</a:t>
            </a:r>
            <a:endParaRPr sz="1500" b="0">
              <a:solidFill>
                <a:srgbClr val="A9B8CE"/>
              </a:solidFill>
              <a:latin typeface="DejaVu Sans"/>
              <a:ea typeface="DejaVu Sans"/>
              <a:cs typeface="DejaVu Sans"/>
            </a:endParaRPr>
          </a:p>
        </p:txBody>
      </p:sp>
      <p:sp>
        <p:nvSpPr>
          <p:cNvPr id="3" name="Rectangles 2"/>
          <p:cNvSpPr>
            <a:spLocks noGrp="1"/>
          </p:cNvSpPr>
          <p:nvPr/>
        </p:nvSpPr>
        <p:spPr>
          <a:xfrm>
            <a:off x="619125" y="1428750"/>
            <a:ext cx="10572750" cy="428625"/>
          </a:xfrm>
          <a:prstGeom prst="rect">
            <a:avLst/>
          </a:prstGeom>
          <a:noFill/>
          <a:ln w="0">
            <a:noFill/>
          </a:ln>
        </p:spPr>
        <p:txBody>
          <a:bodyPr/>
          <a:lstStyle>
            <a:defPPr>
              <a:defRPr sz="2025" b="0">
                <a:solidFill>
                  <a:srgbClr val="A9B8CE"/>
                </a:solidFill>
                <a:latin typeface="DejaVu Sans"/>
                <a:ea typeface="DejaVu Sans"/>
                <a:cs typeface="DejaVu Sans"/>
              </a:defRPr>
            </a:defPPr>
          </a:lstStyle>
          <a:p>
            <a:pPr>
              <a:defRPr sz="2025" b="0">
                <a:solidFill>
                  <a:srgbClr val="A9B8CE"/>
                </a:solidFill>
                <a:latin typeface="DejaVu Sans"/>
                <a:ea typeface="DejaVu Sans"/>
                <a:cs typeface="DejaVu Sans"/>
              </a:defRPr>
            </a:pPr>
            <a:r>
              <a:rPr sz="2025" b="0">
                <a:solidFill>
                  <a:srgbClr val="A9B8CE"/>
                </a:solidFill>
                <a:latin typeface="DejaVu Sans"/>
                <a:ea typeface="DejaVu Sans"/>
                <a:cs typeface="DejaVu Sans"/>
              </a:rPr>
              <a:t>Assumed 100 basis-point parallel rate shift</a:t>
            </a:r>
            <a:endParaRPr sz="2025" b="0">
              <a:solidFill>
                <a:srgbClr val="A9B8CE"/>
              </a:solidFill>
              <a:latin typeface="DejaVu Sans"/>
              <a:ea typeface="DejaVu Sans"/>
              <a:cs typeface="DejaVu Sans"/>
            </a:endParaRPr>
          </a:p>
        </p:txBody>
      </p:sp>
      <p:graphicFrame>
        <p:nvGraphicFramePr>
          <p:cNvPr id="4" name="Chart"/>
          <p:cNvGraphicFramePr/>
          <p:nvPr/>
        </p:nvGraphicFramePr>
        <p:xfrm>
          <a:off x="619125" y="2143125"/>
          <a:ext cx="7191375" cy="3238500"/>
        </p:xfrm>
        <a:graphic>
          <a:graphicData uri="http://schemas.openxmlformats.org/drawingml/2006/chart">
            <c:chart xmlns:c="http://schemas.openxmlformats.org/drawingml/2006/chart" xmlns:r="http://schemas.openxmlformats.org/officeDocument/2006/relationships" r:id="rId1"/>
          </a:graphicData>
        </a:graphic>
      </p:graphicFrame>
      <p:sp>
        <p:nvSpPr>
          <p:cNvPr id="5" name="Rectangles 4"/>
          <p:cNvSpPr>
            <a:spLocks noGrp="1"/>
          </p:cNvSpPr>
          <p:nvPr/>
        </p:nvSpPr>
        <p:spPr>
          <a:xfrm>
            <a:off x="8334375" y="2238375"/>
            <a:ext cx="3000375" cy="666750"/>
          </a:xfrm>
          <a:prstGeom prst="rect">
            <a:avLst/>
          </a:prstGeom>
          <a:noFill/>
          <a:ln w="0">
            <a:noFill/>
          </a:ln>
        </p:spPr>
        <p:txBody>
          <a:bodyPr/>
          <a:lstStyle>
            <a:defPPr>
              <a:defRPr sz="3225" b="1">
                <a:solidFill>
                  <a:srgbClr val="56D9C5"/>
                </a:solidFill>
                <a:latin typeface="DejaVu Sans"/>
                <a:ea typeface="DejaVu Sans"/>
                <a:cs typeface="DejaVu Sans"/>
              </a:defRPr>
            </a:defPPr>
          </a:lstStyle>
          <a:p>
            <a:pPr>
              <a:defRPr sz="3225" b="1">
                <a:solidFill>
                  <a:srgbClr val="56D9C5"/>
                </a:solidFill>
                <a:latin typeface="DejaVu Sans"/>
                <a:ea typeface="DejaVu Sans"/>
                <a:cs typeface="DejaVu Sans"/>
              </a:defRPr>
            </a:pPr>
            <a:r>
              <a:rPr sz="3225" b="1">
                <a:solidFill>
                  <a:srgbClr val="56D9C5"/>
                </a:solidFill>
                <a:latin typeface="DejaVu Sans"/>
                <a:ea typeface="DejaVu Sans"/>
                <a:cs typeface="DejaVu Sans"/>
              </a:rPr>
              <a:t>+$1.25M</a:t>
            </a:r>
            <a:endParaRPr sz="3225" b="1">
              <a:solidFill>
                <a:srgbClr val="56D9C5"/>
              </a:solidFill>
              <a:latin typeface="DejaVu Sans"/>
              <a:ea typeface="DejaVu Sans"/>
              <a:cs typeface="DejaVu Sans"/>
            </a:endParaRPr>
          </a:p>
        </p:txBody>
      </p:sp>
      <p:sp>
        <p:nvSpPr>
          <p:cNvPr id="6" name="Rectangles 5"/>
          <p:cNvSpPr>
            <a:spLocks noGrp="1"/>
          </p:cNvSpPr>
          <p:nvPr/>
        </p:nvSpPr>
        <p:spPr>
          <a:xfrm>
            <a:off x="8334375" y="3028950"/>
            <a:ext cx="3048000" cy="904875"/>
          </a:xfrm>
          <a:prstGeom prst="rect">
            <a:avLst/>
          </a:prstGeom>
          <a:noFill/>
          <a:ln w="0">
            <a:noFill/>
          </a:ln>
        </p:spPr>
        <p:txBody>
          <a:bodyPr/>
          <a:lstStyle>
            <a:defPPr>
              <a:defRPr sz="2025" b="0">
                <a:solidFill>
                  <a:srgbClr val="E5EDF8"/>
                </a:solidFill>
                <a:latin typeface="DejaVu Sans"/>
                <a:ea typeface="DejaVu Sans"/>
                <a:cs typeface="DejaVu Sans"/>
              </a:defRPr>
            </a:defPPr>
          </a:lstStyle>
          <a:p>
            <a:pPr>
              <a:defRPr sz="2025" b="0">
                <a:solidFill>
                  <a:srgbClr val="E5EDF8"/>
                </a:solidFill>
                <a:latin typeface="DejaVu Sans"/>
                <a:ea typeface="DejaVu Sans"/>
                <a:cs typeface="DejaVu Sans"/>
              </a:defRPr>
            </a:pPr>
            <a:r>
              <a:rPr sz="2025" b="0">
                <a:solidFill>
                  <a:srgbClr val="E5EDF8"/>
                </a:solidFill>
                <a:latin typeface="DejaVu Sans"/>
                <a:ea typeface="DejaVu Sans"/>
                <a:cs typeface="DejaVu Sans"/>
              </a:rPr>
              <a:t>Swap contribution</a:t>
            </a:r>
            <a:endParaRPr sz="2025" b="0">
              <a:solidFill>
                <a:srgbClr val="E5EDF8"/>
              </a:solidFill>
              <a:latin typeface="DejaVu Sans"/>
              <a:ea typeface="DejaVu Sans"/>
              <a:cs typeface="DejaVu Sans"/>
            </a:endParaRPr>
          </a:p>
          <a:p>
            <a:pPr>
              <a:defRPr sz="2025" b="0">
                <a:solidFill>
                  <a:srgbClr val="E5EDF8"/>
                </a:solidFill>
                <a:latin typeface="DejaVu Sans"/>
                <a:ea typeface="DejaVu Sans"/>
                <a:cs typeface="DejaVu Sans"/>
              </a:defRPr>
            </a:pPr>
            <a:r>
              <a:rPr sz="2025" b="0">
                <a:solidFill>
                  <a:srgbClr val="E5EDF8"/>
                </a:solidFill>
                <a:latin typeface="DejaVu Sans"/>
                <a:ea typeface="DejaVu Sans"/>
                <a:cs typeface="DejaVu Sans"/>
              </a:rPr>
              <a:t>when rates rise</a:t>
            </a:r>
            <a:endParaRPr sz="2025" b="0">
              <a:solidFill>
                <a:srgbClr val="E5EDF8"/>
              </a:solidFill>
              <a:latin typeface="DejaVu Sans"/>
              <a:ea typeface="DejaVu Sans"/>
              <a:cs typeface="DejaVu Sans"/>
            </a:endParaRPr>
          </a:p>
        </p:txBody>
      </p:sp>
      <p:sp>
        <p:nvSpPr>
          <p:cNvPr id="7" name="Rectangles 6"/>
          <p:cNvSpPr>
            <a:spLocks noGrp="1"/>
          </p:cNvSpPr>
          <p:nvPr/>
        </p:nvSpPr>
        <p:spPr>
          <a:xfrm>
            <a:off x="8334375" y="4200525"/>
            <a:ext cx="3000375" cy="571500"/>
          </a:xfrm>
          <a:prstGeom prst="rect">
            <a:avLst/>
          </a:prstGeom>
          <a:noFill/>
          <a:ln w="0">
            <a:noFill/>
          </a:ln>
        </p:spPr>
        <p:txBody>
          <a:bodyPr/>
          <a:lstStyle>
            <a:defPPr>
              <a:defRPr sz="3000" b="1">
                <a:solidFill>
                  <a:srgbClr val="FB7185"/>
                </a:solidFill>
                <a:latin typeface="DejaVu Sans"/>
                <a:ea typeface="DejaVu Sans"/>
                <a:cs typeface="DejaVu Sans"/>
              </a:defRPr>
            </a:defPPr>
          </a:lstStyle>
          <a:p>
            <a:pPr>
              <a:defRPr sz="3000" b="1">
                <a:solidFill>
                  <a:srgbClr val="FB7185"/>
                </a:solidFill>
                <a:latin typeface="DejaVu Sans"/>
                <a:ea typeface="DejaVu Sans"/>
                <a:cs typeface="DejaVu Sans"/>
              </a:defRPr>
            </a:pPr>
            <a:r>
              <a:rPr sz="3000" b="1">
                <a:solidFill>
                  <a:srgbClr val="FB7185"/>
                </a:solidFill>
                <a:latin typeface="DejaVu Sans"/>
                <a:ea typeface="DejaVu Sans"/>
                <a:cs typeface="DejaVu Sans"/>
              </a:rPr>
              <a:t>−$1.25M</a:t>
            </a:r>
            <a:endParaRPr sz="3000" b="1">
              <a:solidFill>
                <a:srgbClr val="FB7185"/>
              </a:solidFill>
              <a:latin typeface="DejaVu Sans"/>
              <a:ea typeface="DejaVu Sans"/>
              <a:cs typeface="DejaVu Sans"/>
            </a:endParaRPr>
          </a:p>
        </p:txBody>
      </p:sp>
      <p:sp>
        <p:nvSpPr>
          <p:cNvPr id="8" name="Rectangles 7"/>
          <p:cNvSpPr>
            <a:spLocks noGrp="1"/>
          </p:cNvSpPr>
          <p:nvPr/>
        </p:nvSpPr>
        <p:spPr>
          <a:xfrm>
            <a:off x="8334375" y="4876800"/>
            <a:ext cx="3048000" cy="857250"/>
          </a:xfrm>
          <a:prstGeom prst="rect">
            <a:avLst/>
          </a:prstGeom>
          <a:noFill/>
          <a:ln w="0">
            <a:noFill/>
          </a:ln>
        </p:spPr>
        <p:txBody>
          <a:bodyPr/>
          <a:lstStyle>
            <a:defPPr>
              <a:defRPr sz="2025" b="0">
                <a:solidFill>
                  <a:srgbClr val="E5EDF8"/>
                </a:solidFill>
                <a:latin typeface="DejaVu Sans"/>
                <a:ea typeface="DejaVu Sans"/>
                <a:cs typeface="DejaVu Sans"/>
              </a:defRPr>
            </a:defPPr>
          </a:lstStyle>
          <a:p>
            <a:pPr>
              <a:defRPr sz="2025" b="0">
                <a:solidFill>
                  <a:srgbClr val="E5EDF8"/>
                </a:solidFill>
                <a:latin typeface="DejaVu Sans"/>
                <a:ea typeface="DejaVu Sans"/>
                <a:cs typeface="DejaVu Sans"/>
              </a:defRPr>
            </a:pPr>
            <a:r>
              <a:rPr sz="2025" b="0">
                <a:solidFill>
                  <a:srgbClr val="E5EDF8"/>
                </a:solidFill>
                <a:latin typeface="DejaVu Sans"/>
                <a:ea typeface="DejaVu Sans"/>
                <a:cs typeface="DejaVu Sans"/>
              </a:rPr>
              <a:t>Swap contribution</a:t>
            </a:r>
            <a:endParaRPr sz="2025" b="0">
              <a:solidFill>
                <a:srgbClr val="E5EDF8"/>
              </a:solidFill>
              <a:latin typeface="DejaVu Sans"/>
              <a:ea typeface="DejaVu Sans"/>
              <a:cs typeface="DejaVu Sans"/>
            </a:endParaRPr>
          </a:p>
          <a:p>
            <a:pPr>
              <a:defRPr sz="2025" b="0">
                <a:solidFill>
                  <a:srgbClr val="E5EDF8"/>
                </a:solidFill>
                <a:latin typeface="DejaVu Sans"/>
                <a:ea typeface="DejaVu Sans"/>
                <a:cs typeface="DejaVu Sans"/>
              </a:defRPr>
            </a:pPr>
            <a:r>
              <a:rPr sz="2025" b="0">
                <a:solidFill>
                  <a:srgbClr val="E5EDF8"/>
                </a:solidFill>
                <a:latin typeface="DejaVu Sans"/>
                <a:ea typeface="DejaVu Sans"/>
                <a:cs typeface="DejaVu Sans"/>
              </a:rPr>
              <a:t>when rates fall</a:t>
            </a:r>
            <a:endParaRPr sz="2025" b="0">
              <a:solidFill>
                <a:srgbClr val="E5EDF8"/>
              </a:solidFill>
              <a:latin typeface="DejaVu Sans"/>
              <a:ea typeface="DejaVu Sans"/>
              <a:cs typeface="DejaVu Sans"/>
            </a:endParaRPr>
          </a:p>
        </p:txBody>
      </p:sp>
      <p:sp>
        <p:nvSpPr>
          <p:cNvPr id="9" name="Rectangles 8"/>
          <p:cNvSpPr>
            <a:spLocks noGrp="1"/>
          </p:cNvSpPr>
          <p:nvPr/>
        </p:nvSpPr>
        <p:spPr>
          <a:xfrm>
            <a:off x="619125" y="5943600"/>
            <a:ext cx="10382250" cy="552450"/>
          </a:xfrm>
          <a:prstGeom prst="rect">
            <a:avLst/>
          </a:prstGeom>
          <a:noFill/>
          <a:ln w="0">
            <a:noFill/>
          </a:ln>
        </p:spPr>
        <p:txBody>
          <a:bodyPr/>
          <a:lstStyle>
            <a:defPPr>
              <a:defRPr sz="1425" b="0">
                <a:solidFill>
                  <a:srgbClr val="A9B8CE"/>
                </a:solidFill>
                <a:latin typeface="DejaVu Sans"/>
                <a:ea typeface="DejaVu Sans"/>
                <a:cs typeface="DejaVu Sans"/>
              </a:defRPr>
            </a:defPPr>
          </a:lstStyle>
          <a:p>
            <a:pPr>
              <a:defRPr sz="1425" b="0">
                <a:solidFill>
                  <a:srgbClr val="A9B8CE"/>
                </a:solidFill>
                <a:latin typeface="DejaVu Sans"/>
                <a:ea typeface="DejaVu Sans"/>
                <a:cs typeface="DejaVu Sans"/>
              </a:defRPr>
            </a:pPr>
            <a:r>
              <a:rPr sz="1425" b="0">
                <a:solidFill>
                  <a:srgbClr val="A9B8CE"/>
                </a:solidFill>
                <a:latin typeface="DejaVu Sans"/>
                <a:ea typeface="DejaVu Sans"/>
                <a:cs typeface="DejaVu Sans"/>
              </a:rPr>
              <a:t>First-order sensitivities on hypothetical positions. Loan EAD and swap notional stay outside market value.</a:t>
            </a:r>
            <a:endParaRPr sz="1425" b="0">
              <a:solidFill>
                <a:srgbClr val="A9B8CE"/>
              </a:solidFill>
              <a:latin typeface="DejaVu Sans"/>
              <a:ea typeface="DejaVu Sans"/>
              <a:cs typeface="DejaVu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p:sp>
        <p:nvSpPr>
          <p:cNvPr id="8" name="Rectangles 7"/>
          <p:cNvSpPr>
            <a:spLocks noGrp="1"/>
          </p:cNvSpPr>
          <p:nvPr/>
        </p:nvSpPr>
        <p:spPr>
          <a:xfrm>
            <a:off x="619125" y="428625"/>
            <a:ext cx="10953750" cy="809625"/>
          </a:xfrm>
          <a:prstGeom prst="rect">
            <a:avLst/>
          </a:prstGeom>
          <a:noFill/>
          <a:ln w="0">
            <a:noFill/>
          </a:ln>
        </p:spPr>
        <p:txBody>
          <a:bodyPr/>
          <a:lstStyle>
            <a:defPPr>
              <a:defRPr sz="3225" b="1">
                <a:solidFill>
                  <a:srgbClr val="E5EDF8"/>
                </a:solidFill>
                <a:latin typeface="DejaVu Sans"/>
                <a:ea typeface="DejaVu Sans"/>
                <a:cs typeface="DejaVu Sans"/>
              </a:defRPr>
            </a:defPPr>
          </a:lstStyle>
          <a:p>
            <a:pPr>
              <a:defRPr sz="3225" b="1">
                <a:solidFill>
                  <a:srgbClr val="E5EDF8"/>
                </a:solidFill>
                <a:latin typeface="DejaVu Sans"/>
                <a:ea typeface="DejaVu Sans"/>
                <a:cs typeface="DejaVu Sans"/>
              </a:defRPr>
            </a:pPr>
            <a:r>
              <a:rPr sz="3225" b="1">
                <a:solidFill>
                  <a:srgbClr val="E5EDF8"/>
                </a:solidFill>
                <a:latin typeface="DejaVu Sans"/>
                <a:ea typeface="DejaVu Sans"/>
                <a:cs typeface="DejaVu Sans"/>
              </a:rPr>
              <a:t>Measured NLP results</a:t>
            </a:r>
            <a:endParaRPr sz="3225" b="1">
              <a:solidFill>
                <a:srgbClr val="E5EDF8"/>
              </a:solidFill>
              <a:latin typeface="DejaVu Sans"/>
              <a:ea typeface="DejaVu Sans"/>
              <a:cs typeface="DejaVu Sans"/>
            </a:endParaRPr>
          </a:p>
        </p:txBody>
      </p:sp>
      <p:sp>
        <p:nvSpPr>
          <p:cNvPr id="2" name="Rectangles 1"/>
          <p:cNvSpPr>
            <a:spLocks noGrp="1"/>
          </p:cNvSpPr>
          <p:nvPr/>
        </p:nvSpPr>
        <p:spPr>
          <a:xfrm>
            <a:off x="11191875" y="6305550"/>
            <a:ext cx="523875" cy="285750"/>
          </a:xfrm>
          <a:prstGeom prst="rect">
            <a:avLst/>
          </a:prstGeom>
          <a:noFill/>
          <a:ln w="0">
            <a:noFill/>
          </a:ln>
        </p:spPr>
        <p:txBody>
          <a:bodyPr/>
          <a:lstStyle>
            <a:defPPr>
              <a:defRPr sz="1500" b="0">
                <a:solidFill>
                  <a:srgbClr val="A9B8CE"/>
                </a:solidFill>
                <a:latin typeface="DejaVu Sans"/>
                <a:ea typeface="DejaVu Sans"/>
                <a:cs typeface="DejaVu Sans"/>
              </a:defRPr>
            </a:defPPr>
          </a:lstStyle>
          <a:p>
            <a:pPr>
              <a:defRPr sz="1500" b="0">
                <a:solidFill>
                  <a:srgbClr val="A9B8CE"/>
                </a:solidFill>
                <a:latin typeface="DejaVu Sans"/>
                <a:ea typeface="DejaVu Sans"/>
                <a:cs typeface="DejaVu Sans"/>
              </a:defRPr>
            </a:pPr>
            <a:r>
              <a:rPr sz="1500" b="0">
                <a:solidFill>
                  <a:srgbClr val="A9B8CE"/>
                </a:solidFill>
                <a:latin typeface="DejaVu Sans"/>
                <a:ea typeface="DejaVu Sans"/>
                <a:cs typeface="DejaVu Sans"/>
              </a:rPr>
              <a:t>05</a:t>
            </a:r>
            <a:endParaRPr sz="1500" b="0">
              <a:solidFill>
                <a:srgbClr val="A9B8CE"/>
              </a:solidFill>
              <a:latin typeface="DejaVu Sans"/>
              <a:ea typeface="DejaVu Sans"/>
              <a:cs typeface="DejaVu Sans"/>
            </a:endParaRPr>
          </a:p>
        </p:txBody>
      </p:sp>
      <p:sp>
        <p:nvSpPr>
          <p:cNvPr id="3" name="Rectangles 2"/>
          <p:cNvSpPr>
            <a:spLocks noGrp="1"/>
          </p:cNvSpPr>
          <p:nvPr/>
        </p:nvSpPr>
        <p:spPr>
          <a:xfrm>
            <a:off x="619125" y="1428750"/>
            <a:ext cx="5381625" cy="619125"/>
          </a:xfrm>
          <a:prstGeom prst="rect">
            <a:avLst/>
          </a:prstGeom>
          <a:noFill/>
          <a:ln w="0">
            <a:noFill/>
          </a:ln>
        </p:spPr>
        <p:txBody>
          <a:bodyPr/>
          <a:lstStyle>
            <a:defPPr>
              <a:defRPr sz="1875" b="1">
                <a:solidFill>
                  <a:srgbClr val="56D9C5"/>
                </a:solidFill>
                <a:latin typeface="DejaVu Sans"/>
                <a:ea typeface="DejaVu Sans"/>
                <a:cs typeface="DejaVu Sans"/>
              </a:defRPr>
            </a:defPPr>
          </a:lstStyle>
          <a:p>
            <a:pPr>
              <a:defRPr sz="1875" b="1">
                <a:solidFill>
                  <a:srgbClr val="56D9C5"/>
                </a:solidFill>
                <a:latin typeface="DejaVu Sans"/>
                <a:ea typeface="DejaVu Sans"/>
                <a:cs typeface="DejaVu Sans"/>
              </a:defRPr>
            </a:pPr>
            <a:r>
              <a:rPr sz="1875" b="1">
                <a:solidFill>
                  <a:srgbClr val="56D9C5"/>
                </a:solidFill>
                <a:latin typeface="DejaVu Sans"/>
                <a:ea typeface="DejaVu Sans"/>
                <a:cs typeface="DejaVu Sans"/>
              </a:rPr>
              <a:t>Sentiment: 240 publisher-labelled texts</a:t>
            </a:r>
            <a:endParaRPr sz="1875" b="1">
              <a:solidFill>
                <a:srgbClr val="56D9C5"/>
              </a:solidFill>
              <a:latin typeface="DejaVu Sans"/>
              <a:ea typeface="DejaVu Sans"/>
              <a:cs typeface="DejaVu Sans"/>
            </a:endParaRPr>
          </a:p>
        </p:txBody>
      </p:sp>
      <p:sp>
        <p:nvSpPr>
          <p:cNvPr id="4" name="Rectangles 3"/>
          <p:cNvSpPr>
            <a:spLocks noGrp="1"/>
          </p:cNvSpPr>
          <p:nvPr/>
        </p:nvSpPr>
        <p:spPr>
          <a:xfrm>
            <a:off x="6524625" y="1428750"/>
            <a:ext cx="5095875" cy="619125"/>
          </a:xfrm>
          <a:prstGeom prst="rect">
            <a:avLst/>
          </a:prstGeom>
          <a:noFill/>
          <a:ln w="0">
            <a:noFill/>
          </a:ln>
        </p:spPr>
        <p:txBody>
          <a:bodyPr/>
          <a:lstStyle>
            <a:defPPr>
              <a:defRPr sz="1875" b="1">
                <a:solidFill>
                  <a:srgbClr val="56D9C5"/>
                </a:solidFill>
                <a:latin typeface="DejaVu Sans"/>
                <a:ea typeface="DejaVu Sans"/>
                <a:cs typeface="DejaVu Sans"/>
              </a:defRPr>
            </a:defPPr>
          </a:lstStyle>
          <a:p>
            <a:pPr>
              <a:defRPr sz="1875" b="1">
                <a:solidFill>
                  <a:srgbClr val="56D9C5"/>
                </a:solidFill>
                <a:latin typeface="DejaVu Sans"/>
                <a:ea typeface="DejaVu Sans"/>
                <a:cs typeface="DejaVu Sans"/>
              </a:defRPr>
            </a:pPr>
            <a:r>
              <a:rPr sz="1875" b="1">
                <a:solidFill>
                  <a:srgbClr val="56D9C5"/>
                </a:solidFill>
                <a:latin typeface="DejaVu Sans"/>
                <a:ea typeface="DejaVu Sans"/>
                <a:cs typeface="DejaVu Sans"/>
              </a:rPr>
              <a:t>Events: 108 curated public examples</a:t>
            </a:r>
            <a:endParaRPr sz="1875" b="1">
              <a:solidFill>
                <a:srgbClr val="56D9C5"/>
              </a:solidFill>
              <a:latin typeface="DejaVu Sans"/>
              <a:ea typeface="DejaVu Sans"/>
              <a:cs typeface="DejaVu Sans"/>
            </a:endParaRPr>
          </a:p>
        </p:txBody>
      </p:sp>
      <p:graphicFrame>
        <p:nvGraphicFramePr>
          <p:cNvPr id="5" name="Chart"/>
          <p:cNvGraphicFramePr/>
          <p:nvPr/>
        </p:nvGraphicFramePr>
        <p:xfrm>
          <a:off x="523875" y="2286000"/>
          <a:ext cx="5286375" cy="300037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6" name="Chart"/>
          <p:cNvGraphicFramePr/>
          <p:nvPr/>
        </p:nvGraphicFramePr>
        <p:xfrm>
          <a:off x="6429375" y="2286000"/>
          <a:ext cx="5238750" cy="3000375"/>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angles 6"/>
          <p:cNvSpPr>
            <a:spLocks noGrp="1"/>
          </p:cNvSpPr>
          <p:nvPr/>
        </p:nvSpPr>
        <p:spPr>
          <a:xfrm>
            <a:off x="619125" y="5943600"/>
            <a:ext cx="10382250" cy="552450"/>
          </a:xfrm>
          <a:prstGeom prst="rect">
            <a:avLst/>
          </a:prstGeom>
          <a:noFill/>
          <a:ln w="0">
            <a:noFill/>
          </a:ln>
        </p:spPr>
        <p:txBody>
          <a:bodyPr/>
          <a:lstStyle>
            <a:defPPr>
              <a:defRPr sz="1425" b="0">
                <a:solidFill>
                  <a:srgbClr val="A9B8CE"/>
                </a:solidFill>
                <a:latin typeface="DejaVu Sans"/>
                <a:ea typeface="DejaVu Sans"/>
                <a:cs typeface="DejaVu Sans"/>
              </a:defRPr>
            </a:defPPr>
          </a:lstStyle>
          <a:p>
            <a:pPr>
              <a:defRPr sz="1425" b="0">
                <a:solidFill>
                  <a:srgbClr val="A9B8CE"/>
                </a:solidFill>
                <a:latin typeface="DejaVu Sans"/>
                <a:ea typeface="DejaVu Sans"/>
                <a:cs typeface="DejaVu Sans"/>
              </a:defRPr>
            </a:pPr>
            <a:r>
              <a:rPr sz="1425" b="0">
                <a:solidFill>
                  <a:srgbClr val="A9B8CE"/>
                </a:solidFill>
                <a:latin typeface="DejaVu Sans"/>
                <a:ea typeface="DejaVu Sans"/>
                <a:cs typeface="DejaVu Sans"/>
              </a:rPr>
              <a:t>Sentiment validation excludes normalized training overlap. Event labels are builder-curated and keyword-enriched, not independent or blinded.</a:t>
            </a:r>
            <a:endParaRPr sz="1425" b="0">
              <a:solidFill>
                <a:srgbClr val="A9B8CE"/>
              </a:solidFill>
              <a:latin typeface="DejaVu Sans"/>
              <a:ea typeface="DejaVu Sans"/>
              <a:cs typeface="DejaVu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p:sp>
        <p:nvSpPr>
          <p:cNvPr id="7" name="Rectangles 6"/>
          <p:cNvSpPr>
            <a:spLocks noGrp="1"/>
          </p:cNvSpPr>
          <p:nvPr/>
        </p:nvSpPr>
        <p:spPr>
          <a:xfrm>
            <a:off x="619125" y="428625"/>
            <a:ext cx="10953750" cy="809625"/>
          </a:xfrm>
          <a:prstGeom prst="rect">
            <a:avLst/>
          </a:prstGeom>
          <a:noFill/>
          <a:ln w="0">
            <a:noFill/>
          </a:ln>
        </p:spPr>
        <p:txBody>
          <a:bodyPr/>
          <a:lstStyle>
            <a:defPPr>
              <a:defRPr sz="3225" b="1">
                <a:solidFill>
                  <a:srgbClr val="E5EDF8"/>
                </a:solidFill>
                <a:latin typeface="DejaVu Sans"/>
                <a:ea typeface="DejaVu Sans"/>
                <a:cs typeface="DejaVu Sans"/>
              </a:defRPr>
            </a:defPPr>
          </a:lstStyle>
          <a:p>
            <a:pPr>
              <a:defRPr sz="3225" b="1">
                <a:solidFill>
                  <a:srgbClr val="E5EDF8"/>
                </a:solidFill>
                <a:latin typeface="DejaVu Sans"/>
                <a:ea typeface="DejaVu Sans"/>
                <a:cs typeface="DejaVu Sans"/>
              </a:defRPr>
            </a:pPr>
            <a:r>
              <a:rPr sz="3225" b="1">
                <a:solidFill>
                  <a:srgbClr val="E5EDF8"/>
                </a:solidFill>
                <a:latin typeface="DejaVu Sans"/>
                <a:ea typeface="DejaVu Sans"/>
                <a:cs typeface="DejaVu Sans"/>
              </a:rPr>
              <a:t>Borrower-specific credit stress</a:t>
            </a:r>
            <a:endParaRPr sz="3225" b="1">
              <a:solidFill>
                <a:srgbClr val="E5EDF8"/>
              </a:solidFill>
              <a:latin typeface="DejaVu Sans"/>
              <a:ea typeface="DejaVu Sans"/>
              <a:cs typeface="DejaVu Sans"/>
            </a:endParaRPr>
          </a:p>
        </p:txBody>
      </p:sp>
      <p:sp>
        <p:nvSpPr>
          <p:cNvPr id="2" name="Rectangles 1"/>
          <p:cNvSpPr>
            <a:spLocks noGrp="1"/>
          </p:cNvSpPr>
          <p:nvPr/>
        </p:nvSpPr>
        <p:spPr>
          <a:xfrm>
            <a:off x="11191875" y="6305550"/>
            <a:ext cx="523875" cy="285750"/>
          </a:xfrm>
          <a:prstGeom prst="rect">
            <a:avLst/>
          </a:prstGeom>
          <a:noFill/>
          <a:ln w="0">
            <a:noFill/>
          </a:ln>
        </p:spPr>
        <p:txBody>
          <a:bodyPr/>
          <a:lstStyle>
            <a:defPPr>
              <a:defRPr sz="1500" b="0">
                <a:solidFill>
                  <a:srgbClr val="A9B8CE"/>
                </a:solidFill>
                <a:latin typeface="DejaVu Sans"/>
                <a:ea typeface="DejaVu Sans"/>
                <a:cs typeface="DejaVu Sans"/>
              </a:defRPr>
            </a:defPPr>
          </a:lstStyle>
          <a:p>
            <a:pPr>
              <a:defRPr sz="1500" b="0">
                <a:solidFill>
                  <a:srgbClr val="A9B8CE"/>
                </a:solidFill>
                <a:latin typeface="DejaVu Sans"/>
                <a:ea typeface="DejaVu Sans"/>
                <a:cs typeface="DejaVu Sans"/>
              </a:defRPr>
            </a:pPr>
            <a:r>
              <a:rPr sz="1500" b="0">
                <a:solidFill>
                  <a:srgbClr val="A9B8CE"/>
                </a:solidFill>
                <a:latin typeface="DejaVu Sans"/>
                <a:ea typeface="DejaVu Sans"/>
                <a:cs typeface="DejaVu Sans"/>
              </a:rPr>
              <a:t>06</a:t>
            </a:r>
            <a:endParaRPr sz="1500" b="0">
              <a:solidFill>
                <a:srgbClr val="A9B8CE"/>
              </a:solidFill>
              <a:latin typeface="DejaVu Sans"/>
              <a:ea typeface="DejaVu Sans"/>
              <a:cs typeface="DejaVu Sans"/>
            </a:endParaRPr>
          </a:p>
        </p:txBody>
      </p:sp>
      <p:sp>
        <p:nvSpPr>
          <p:cNvPr id="3" name="Rectangles 2"/>
          <p:cNvSpPr>
            <a:spLocks noGrp="1"/>
          </p:cNvSpPr>
          <p:nvPr/>
        </p:nvSpPr>
        <p:spPr>
          <a:xfrm>
            <a:off x="619125" y="1571625"/>
            <a:ext cx="10477500" cy="809625"/>
          </a:xfrm>
          <a:prstGeom prst="rect">
            <a:avLst/>
          </a:prstGeom>
          <a:noFill/>
          <a:ln w="0">
            <a:noFill/>
          </a:ln>
        </p:spPr>
        <p:txBody>
          <a:bodyPr/>
          <a:lstStyle>
            <a:defPPr>
              <a:defRPr sz="3600" b="1">
                <a:solidFill>
                  <a:srgbClr val="56D9C5"/>
                </a:solidFill>
                <a:latin typeface="DejaVu Sans"/>
                <a:ea typeface="DejaVu Sans"/>
                <a:cs typeface="DejaVu Sans"/>
              </a:defRPr>
            </a:defPPr>
          </a:lstStyle>
          <a:p>
            <a:pPr>
              <a:defRPr sz="3600" b="1">
                <a:solidFill>
                  <a:srgbClr val="56D9C5"/>
                </a:solidFill>
                <a:latin typeface="DejaVu Sans"/>
                <a:ea typeface="DejaVu Sans"/>
                <a:cs typeface="DejaVu Sans"/>
              </a:defRPr>
            </a:pPr>
            <a:r>
              <a:rPr sz="3600" b="1">
                <a:solidFill>
                  <a:srgbClr val="56D9C5"/>
                </a:solidFill>
                <a:latin typeface="DejaVu Sans"/>
                <a:ea typeface="DejaVu Sans"/>
                <a:cs typeface="DejaVu Sans"/>
              </a:rPr>
              <a:t>2 affected holdings</a:t>
            </a:r>
            <a:endParaRPr sz="3600" b="1">
              <a:solidFill>
                <a:srgbClr val="56D9C5"/>
              </a:solidFill>
              <a:latin typeface="DejaVu Sans"/>
              <a:ea typeface="DejaVu Sans"/>
              <a:cs typeface="DejaVu Sans"/>
            </a:endParaRPr>
          </a:p>
        </p:txBody>
      </p:sp>
      <p:sp>
        <p:nvSpPr>
          <p:cNvPr id="4" name="Rectangles 3"/>
          <p:cNvSpPr>
            <a:spLocks noGrp="1"/>
          </p:cNvSpPr>
          <p:nvPr/>
        </p:nvSpPr>
        <p:spPr>
          <a:xfrm>
            <a:off x="619125" y="2609850"/>
            <a:ext cx="10668000" cy="1066800"/>
          </a:xfrm>
          <a:prstGeom prst="rect">
            <a:avLst/>
          </a:prstGeom>
          <a:noFill/>
          <a:ln w="0">
            <a:noFill/>
          </a:ln>
        </p:spPr>
        <p:txBody>
          <a:bodyPr/>
          <a:lstStyle>
            <a:defPPr>
              <a:defRPr sz="2175" b="0">
                <a:solidFill>
                  <a:srgbClr val="E5EDF8"/>
                </a:solidFill>
                <a:latin typeface="DejaVu Sans"/>
                <a:ea typeface="DejaVu Sans"/>
                <a:cs typeface="DejaVu Sans"/>
              </a:defRPr>
            </a:defPPr>
          </a:lstStyle>
          <a:p>
            <a:pPr>
              <a:defRPr sz="2175" b="0">
                <a:solidFill>
                  <a:srgbClr val="E5EDF8"/>
                </a:solidFill>
                <a:latin typeface="DejaVu Sans"/>
                <a:ea typeface="DejaVu Sans"/>
                <a:cs typeface="DejaVu Sans"/>
              </a:defRPr>
            </a:pPr>
            <a:r>
              <a:rPr sz="2175" b="0">
                <a:solidFill>
                  <a:srgbClr val="E5EDF8"/>
                </a:solidFill>
                <a:latin typeface="DejaVu Sans"/>
                <a:ea typeface="DejaVu Sans"/>
                <a:cs typeface="DejaVu Sans"/>
              </a:rPr>
              <a:t>The historical Rite Aid event maps to its hypothetical loan and bond.</a:t>
            </a:r>
            <a:endParaRPr sz="2175" b="0">
              <a:solidFill>
                <a:srgbClr val="E5EDF8"/>
              </a:solidFill>
              <a:latin typeface="DejaVu Sans"/>
              <a:ea typeface="DejaVu Sans"/>
              <a:cs typeface="DejaVu Sans"/>
            </a:endParaRPr>
          </a:p>
          <a:p>
            <a:pPr>
              <a:defRPr sz="2175" b="0">
                <a:solidFill>
                  <a:srgbClr val="E5EDF8"/>
                </a:solidFill>
                <a:latin typeface="DejaVu Sans"/>
                <a:ea typeface="DejaVu Sans"/>
                <a:cs typeface="DejaVu Sans"/>
              </a:defRPr>
            </a:pPr>
            <a:r>
              <a:rPr sz="2175" b="0">
                <a:solidFill>
                  <a:srgbClr val="E5EDF8"/>
                </a:solidFill>
                <a:latin typeface="DejaVu Sans"/>
                <a:ea typeface="DejaVu Sans"/>
                <a:cs typeface="DejaVu Sans"/>
              </a:rPr>
              <a:t>Other borrowers remain outside this scenario.</a:t>
            </a:r>
            <a:endParaRPr sz="2175" b="0">
              <a:solidFill>
                <a:srgbClr val="E5EDF8"/>
              </a:solidFill>
              <a:latin typeface="DejaVu Sans"/>
              <a:ea typeface="DejaVu Sans"/>
              <a:cs typeface="DejaVu Sans"/>
            </a:endParaRPr>
          </a:p>
        </p:txBody>
      </p:sp>
      <p:graphicFrame>
        <p:nvGraphicFramePr>
          <p:cNvPr id="5" name="Table 4"/>
          <p:cNvGraphicFramePr/>
          <p:nvPr/>
        </p:nvGraphicFramePr>
        <p:xfrm>
          <a:off x="619125" y="4114800"/>
          <a:ext cx="10763250" cy="1571625"/>
        </p:xfrm>
        <a:graphic>
          <a:graphicData uri="http://schemas.openxmlformats.org/drawingml/2006/table">
            <a:tbl>
              <a:tblPr/>
              <a:tblGrid>
                <a:gridCol w="5143500"/>
                <a:gridCol w="2809875"/>
                <a:gridCol w="2809875"/>
              </a:tblGrid>
              <a:tr h="523875">
                <a:tc>
                  <a:txBody>
                    <a:bodyPr/>
                    <a:lstStyle/>
                    <a:p>
                      <a:r>
                        <a:rPr sz="1800" b="1">
                          <a:solidFill>
                            <a:srgbClr val="E5EDF8"/>
                          </a:solidFill>
                          <a:latin typeface="DejaVu Sans"/>
                          <a:ea typeface="DejaVu Sans"/>
                          <a:cs typeface="DejaVu Sans"/>
                        </a:rPr>
                        <a:t>Assumption</a:t>
                      </a:r>
                      <a:endParaRPr sz="1800" b="1">
                        <a:solidFill>
                          <a:srgbClr val="E5EDF8"/>
                        </a:solidFill>
                        <a:latin typeface="DejaVu Sans"/>
                        <a:ea typeface="DejaVu Sans"/>
                        <a:cs typeface="DejaVu Sans"/>
                      </a:endParaRPr>
                    </a:p>
                  </a:txBody>
                  <a:tcPr>
                    <a:solidFill>
                      <a:srgbClr val="152A3B"/>
                    </a:solidFill>
                  </a:tcPr>
                </a:tc>
                <a:tc>
                  <a:txBody>
                    <a:bodyPr/>
                    <a:lstStyle/>
                    <a:p>
                      <a:r>
                        <a:rPr sz="1800" b="1">
                          <a:solidFill>
                            <a:srgbClr val="E5EDF8"/>
                          </a:solidFill>
                          <a:latin typeface="DejaVu Sans"/>
                          <a:ea typeface="DejaVu Sans"/>
                          <a:cs typeface="DejaVu Sans"/>
                        </a:rPr>
                        <a:t>Market P&amp;L</a:t>
                      </a:r>
                      <a:endParaRPr sz="1800" b="1">
                        <a:solidFill>
                          <a:srgbClr val="E5EDF8"/>
                        </a:solidFill>
                        <a:latin typeface="DejaVu Sans"/>
                        <a:ea typeface="DejaVu Sans"/>
                        <a:cs typeface="DejaVu Sans"/>
                      </a:endParaRPr>
                    </a:p>
                  </a:txBody>
                  <a:tcPr>
                    <a:solidFill>
                      <a:srgbClr val="152A3B"/>
                    </a:solidFill>
                  </a:tcPr>
                </a:tc>
                <a:tc>
                  <a:txBody>
                    <a:bodyPr/>
                    <a:lstStyle/>
                    <a:p>
                      <a:r>
                        <a:rPr sz="1800" b="1">
                          <a:solidFill>
                            <a:srgbClr val="E5EDF8"/>
                          </a:solidFill>
                          <a:latin typeface="DejaVu Sans"/>
                          <a:ea typeface="DejaVu Sans"/>
                          <a:cs typeface="DejaVu Sans"/>
                        </a:rPr>
                        <a:t>Incremental ECL</a:t>
                      </a:r>
                      <a:endParaRPr sz="1800" b="1">
                        <a:solidFill>
                          <a:srgbClr val="E5EDF8"/>
                        </a:solidFill>
                        <a:latin typeface="DejaVu Sans"/>
                        <a:ea typeface="DejaVu Sans"/>
                        <a:cs typeface="DejaVu Sans"/>
                      </a:endParaRPr>
                    </a:p>
                  </a:txBody>
                  <a:tcPr>
                    <a:solidFill>
                      <a:srgbClr val="152A3B"/>
                    </a:solidFill>
                  </a:tcPr>
                </a:tc>
              </a:tr>
              <a:tr h="523875">
                <a:tc>
                  <a:txBody>
                    <a:bodyPr/>
                    <a:lstStyle/>
                    <a:p>
                      <a:r>
                        <a:rPr sz="1800" b="0">
                          <a:solidFill>
                            <a:srgbClr val="E5EDF8"/>
                          </a:solidFill>
                          <a:latin typeface="DejaVu Sans"/>
                          <a:ea typeface="DejaVu Sans"/>
                          <a:cs typeface="DejaVu Sans"/>
                        </a:rPr>
                        <a:t>Spread +150 bps</a:t>
                      </a:r>
                      <a:endParaRPr sz="1800" b="0">
                        <a:solidFill>
                          <a:srgbClr val="E5EDF8"/>
                        </a:solidFill>
                        <a:latin typeface="DejaVu Sans"/>
                        <a:ea typeface="DejaVu Sans"/>
                        <a:cs typeface="DejaVu Sans"/>
                      </a:endParaRPr>
                    </a:p>
                  </a:txBody>
                  <a:tcPr>
                    <a:solidFill>
                      <a:srgbClr val="0B1120"/>
                    </a:solidFill>
                  </a:tcPr>
                </a:tc>
                <a:tc>
                  <a:txBody>
                    <a:bodyPr/>
                    <a:lstStyle/>
                    <a:p>
                      <a:r>
                        <a:rPr sz="1800" b="0">
                          <a:solidFill>
                            <a:srgbClr val="E5EDF8"/>
                          </a:solidFill>
                          <a:latin typeface="DejaVu Sans"/>
                          <a:ea typeface="DejaVu Sans"/>
                          <a:cs typeface="DejaVu Sans"/>
                        </a:rPr>
                        <a:t>−$0.90M</a:t>
                      </a:r>
                      <a:endParaRPr sz="1800" b="0">
                        <a:solidFill>
                          <a:srgbClr val="E5EDF8"/>
                        </a:solidFill>
                        <a:latin typeface="DejaVu Sans"/>
                        <a:ea typeface="DejaVu Sans"/>
                        <a:cs typeface="DejaVu Sans"/>
                      </a:endParaRPr>
                    </a:p>
                  </a:txBody>
                  <a:tcPr>
                    <a:solidFill>
                      <a:srgbClr val="0B1120"/>
                    </a:solidFill>
                  </a:tcPr>
                </a:tc>
                <a:tc>
                  <a:txBody>
                    <a:bodyPr/>
                    <a:lstStyle/>
                    <a:p>
                      <a:r>
                        <a:rPr sz="1800" b="0">
                          <a:solidFill>
                            <a:srgbClr val="E5EDF8"/>
                          </a:solidFill>
                          <a:latin typeface="DejaVu Sans"/>
                          <a:ea typeface="DejaVu Sans"/>
                          <a:cs typeface="DejaVu Sans"/>
                        </a:rPr>
                        <a:t>—</a:t>
                      </a:r>
                      <a:endParaRPr sz="1800" b="0">
                        <a:solidFill>
                          <a:srgbClr val="E5EDF8"/>
                        </a:solidFill>
                        <a:latin typeface="DejaVu Sans"/>
                        <a:ea typeface="DejaVu Sans"/>
                        <a:cs typeface="DejaVu Sans"/>
                      </a:endParaRPr>
                    </a:p>
                  </a:txBody>
                  <a:tcPr>
                    <a:solidFill>
                      <a:srgbClr val="0B1120"/>
                    </a:solidFill>
                  </a:tcPr>
                </a:tc>
              </a:tr>
              <a:tr h="523875">
                <a:tc>
                  <a:txBody>
                    <a:bodyPr/>
                    <a:lstStyle/>
                    <a:p>
                      <a:r>
                        <a:rPr sz="1800" b="0">
                          <a:solidFill>
                            <a:srgbClr val="E5EDF8"/>
                          </a:solidFill>
                          <a:latin typeface="DejaVu Sans"/>
                          <a:ea typeface="DejaVu Sans"/>
                          <a:cs typeface="DejaVu Sans"/>
                        </a:rPr>
                        <a:t>PD multiplied by 3</a:t>
                      </a:r>
                      <a:endParaRPr sz="1800" b="0">
                        <a:solidFill>
                          <a:srgbClr val="E5EDF8"/>
                        </a:solidFill>
                        <a:latin typeface="DejaVu Sans"/>
                        <a:ea typeface="DejaVu Sans"/>
                        <a:cs typeface="DejaVu Sans"/>
                      </a:endParaRPr>
                    </a:p>
                  </a:txBody>
                  <a:tcPr>
                    <a:solidFill>
                      <a:srgbClr val="0B1120"/>
                    </a:solidFill>
                  </a:tcPr>
                </a:tc>
                <a:tc>
                  <a:txBody>
                    <a:bodyPr/>
                    <a:lstStyle/>
                    <a:p>
                      <a:r>
                        <a:rPr sz="1800" b="0">
                          <a:solidFill>
                            <a:srgbClr val="E5EDF8"/>
                          </a:solidFill>
                          <a:latin typeface="DejaVu Sans"/>
                          <a:ea typeface="DejaVu Sans"/>
                          <a:cs typeface="DejaVu Sans"/>
                        </a:rPr>
                        <a:t>—</a:t>
                      </a:r>
                      <a:endParaRPr sz="1800" b="0">
                        <a:solidFill>
                          <a:srgbClr val="E5EDF8"/>
                        </a:solidFill>
                        <a:latin typeface="DejaVu Sans"/>
                        <a:ea typeface="DejaVu Sans"/>
                        <a:cs typeface="DejaVu Sans"/>
                      </a:endParaRPr>
                    </a:p>
                  </a:txBody>
                  <a:tcPr>
                    <a:solidFill>
                      <a:srgbClr val="0B1120"/>
                    </a:solidFill>
                  </a:tcPr>
                </a:tc>
                <a:tc>
                  <a:txBody>
                    <a:bodyPr/>
                    <a:lstStyle/>
                    <a:p>
                      <a:r>
                        <a:rPr sz="1800" b="0">
                          <a:solidFill>
                            <a:srgbClr val="E5EDF8"/>
                          </a:solidFill>
                          <a:latin typeface="DejaVu Sans"/>
                          <a:ea typeface="DejaVu Sans"/>
                          <a:cs typeface="DejaVu Sans"/>
                        </a:rPr>
                        <a:t>+$2.70M</a:t>
                      </a:r>
                      <a:endParaRPr sz="1800" b="0">
                        <a:solidFill>
                          <a:srgbClr val="E5EDF8"/>
                        </a:solidFill>
                        <a:latin typeface="DejaVu Sans"/>
                        <a:ea typeface="DejaVu Sans"/>
                        <a:cs typeface="DejaVu Sans"/>
                      </a:endParaRPr>
                    </a:p>
                  </a:txBody>
                  <a:tcPr>
                    <a:solidFill>
                      <a:srgbClr val="0B1120"/>
                    </a:solidFill>
                  </a:tcPr>
                </a:tc>
              </a:tr>
            </a:tbl>
          </a:graphicData>
        </a:graphic>
      </p:graphicFrame>
      <p:sp>
        <p:nvSpPr>
          <p:cNvPr id="6" name="Rectangles 5"/>
          <p:cNvSpPr>
            <a:spLocks noGrp="1"/>
          </p:cNvSpPr>
          <p:nvPr/>
        </p:nvSpPr>
        <p:spPr>
          <a:xfrm>
            <a:off x="619125" y="5943600"/>
            <a:ext cx="10382250" cy="552450"/>
          </a:xfrm>
          <a:prstGeom prst="rect">
            <a:avLst/>
          </a:prstGeom>
          <a:noFill/>
          <a:ln w="0">
            <a:noFill/>
          </a:ln>
        </p:spPr>
        <p:txBody>
          <a:bodyPr/>
          <a:lstStyle>
            <a:defPPr>
              <a:defRPr sz="1425" b="0">
                <a:solidFill>
                  <a:srgbClr val="A9B8CE"/>
                </a:solidFill>
                <a:latin typeface="DejaVu Sans"/>
                <a:ea typeface="DejaVu Sans"/>
                <a:cs typeface="DejaVu Sans"/>
              </a:defRPr>
            </a:defPPr>
          </a:lstStyle>
          <a:p>
            <a:pPr>
              <a:defRPr sz="1425" b="0">
                <a:solidFill>
                  <a:srgbClr val="A9B8CE"/>
                </a:solidFill>
                <a:latin typeface="DejaVu Sans"/>
                <a:ea typeface="DejaVu Sans"/>
                <a:cs typeface="DejaVu Sans"/>
              </a:defRPr>
            </a:pPr>
            <a:r>
              <a:rPr sz="1425" b="0">
                <a:solidFill>
                  <a:srgbClr val="A9B8CE"/>
                </a:solidFill>
                <a:latin typeface="DejaVu Sans"/>
                <a:ea typeface="DejaVu Sans"/>
                <a:cs typeface="DejaVu Sans"/>
              </a:rPr>
              <a:t>The blanket counterfactual shows mapping selectivity. Different assumed shocks cannot prove forecast superiority.</a:t>
            </a:r>
            <a:endParaRPr sz="1425" b="0">
              <a:solidFill>
                <a:srgbClr val="A9B8CE"/>
              </a:solidFill>
              <a:latin typeface="DejaVu Sans"/>
              <a:ea typeface="DejaVu Sans"/>
              <a:cs typeface="DejaVu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120"/>
        </a:solidFill>
        <a:effectLst/>
      </p:bgPr>
    </p:bg>
    <p:spTree>
      <p:nvGrpSpPr>
        <p:cNvPr id="1" name=""/>
        <p:cNvGrpSpPr/>
        <p:nvPr/>
      </p:nvGrpSpPr>
      <p:grpSpPr/>
      <p:sp>
        <p:nvSpPr>
          <p:cNvPr id="8" name="Rectangles 7"/>
          <p:cNvSpPr>
            <a:spLocks noGrp="1"/>
          </p:cNvSpPr>
          <p:nvPr/>
        </p:nvSpPr>
        <p:spPr>
          <a:xfrm>
            <a:off x="619125" y="428625"/>
            <a:ext cx="10953750" cy="809625"/>
          </a:xfrm>
          <a:prstGeom prst="rect">
            <a:avLst/>
          </a:prstGeom>
          <a:noFill/>
          <a:ln w="0">
            <a:noFill/>
          </a:ln>
        </p:spPr>
        <p:txBody>
          <a:bodyPr/>
          <a:lstStyle>
            <a:defPPr>
              <a:defRPr sz="3225" b="1">
                <a:solidFill>
                  <a:srgbClr val="E5EDF8"/>
                </a:solidFill>
                <a:latin typeface="DejaVu Sans"/>
                <a:ea typeface="DejaVu Sans"/>
                <a:cs typeface="DejaVu Sans"/>
              </a:defRPr>
            </a:defPPr>
          </a:lstStyle>
          <a:p>
            <a:pPr>
              <a:defRPr sz="3225" b="1">
                <a:solidFill>
                  <a:srgbClr val="E5EDF8"/>
                </a:solidFill>
                <a:latin typeface="DejaVu Sans"/>
                <a:ea typeface="DejaVu Sans"/>
                <a:cs typeface="DejaVu Sans"/>
              </a:defRPr>
            </a:pPr>
            <a:r>
              <a:rPr sz="3225" b="1">
                <a:solidFill>
                  <a:srgbClr val="E5EDF8"/>
                </a:solidFill>
                <a:latin typeface="DejaVu Sans"/>
                <a:ea typeface="DejaVu Sans"/>
                <a:cs typeface="DejaVu Sans"/>
              </a:rPr>
              <a:t>Validation boundaries and next steps</a:t>
            </a:r>
            <a:endParaRPr sz="3225" b="1">
              <a:solidFill>
                <a:srgbClr val="E5EDF8"/>
              </a:solidFill>
              <a:latin typeface="DejaVu Sans"/>
              <a:ea typeface="DejaVu Sans"/>
              <a:cs typeface="DejaVu Sans"/>
            </a:endParaRPr>
          </a:p>
        </p:txBody>
      </p:sp>
      <p:sp>
        <p:nvSpPr>
          <p:cNvPr id="2" name="Rectangles 1"/>
          <p:cNvSpPr>
            <a:spLocks noGrp="1"/>
          </p:cNvSpPr>
          <p:nvPr/>
        </p:nvSpPr>
        <p:spPr>
          <a:xfrm>
            <a:off x="11191875" y="6305550"/>
            <a:ext cx="523875" cy="285750"/>
          </a:xfrm>
          <a:prstGeom prst="rect">
            <a:avLst/>
          </a:prstGeom>
          <a:noFill/>
          <a:ln w="0">
            <a:noFill/>
          </a:ln>
        </p:spPr>
        <p:txBody>
          <a:bodyPr/>
          <a:lstStyle>
            <a:defPPr>
              <a:defRPr sz="1500" b="0">
                <a:solidFill>
                  <a:srgbClr val="A9B8CE"/>
                </a:solidFill>
                <a:latin typeface="DejaVu Sans"/>
                <a:ea typeface="DejaVu Sans"/>
                <a:cs typeface="DejaVu Sans"/>
              </a:defRPr>
            </a:defPPr>
          </a:lstStyle>
          <a:p>
            <a:pPr>
              <a:defRPr sz="1500" b="0">
                <a:solidFill>
                  <a:srgbClr val="A9B8CE"/>
                </a:solidFill>
                <a:latin typeface="DejaVu Sans"/>
                <a:ea typeface="DejaVu Sans"/>
                <a:cs typeface="DejaVu Sans"/>
              </a:defRPr>
            </a:pPr>
            <a:r>
              <a:rPr sz="1500" b="0">
                <a:solidFill>
                  <a:srgbClr val="A9B8CE"/>
                </a:solidFill>
                <a:latin typeface="DejaVu Sans"/>
                <a:ea typeface="DejaVu Sans"/>
                <a:cs typeface="DejaVu Sans"/>
              </a:rPr>
              <a:t>07</a:t>
            </a:r>
            <a:endParaRPr sz="1500" b="0">
              <a:solidFill>
                <a:srgbClr val="A9B8CE"/>
              </a:solidFill>
              <a:latin typeface="DejaVu Sans"/>
              <a:ea typeface="DejaVu Sans"/>
              <a:cs typeface="DejaVu Sans"/>
            </a:endParaRPr>
          </a:p>
        </p:txBody>
      </p:sp>
      <p:sp>
        <p:nvSpPr>
          <p:cNvPr id="3" name="Rectangles 2"/>
          <p:cNvSpPr>
            <a:spLocks noGrp="1"/>
          </p:cNvSpPr>
          <p:nvPr/>
        </p:nvSpPr>
        <p:spPr>
          <a:xfrm>
            <a:off x="619125" y="1524000"/>
            <a:ext cx="10763250" cy="495300"/>
          </a:xfrm>
          <a:prstGeom prst="rect">
            <a:avLst/>
          </a:prstGeom>
          <a:noFill/>
          <a:ln w="0">
            <a:noFill/>
          </a:ln>
        </p:spPr>
        <p:txBody>
          <a:bodyPr/>
          <a:lstStyle>
            <a:defPPr>
              <a:defRPr sz="2400" b="1">
                <a:solidFill>
                  <a:srgbClr val="56D9C5"/>
                </a:solidFill>
                <a:latin typeface="DejaVu Sans"/>
                <a:ea typeface="DejaVu Sans"/>
                <a:cs typeface="DejaVu Sans"/>
              </a:defRPr>
            </a:defPPr>
          </a:lstStyle>
          <a:p>
            <a:pPr>
              <a:defRPr sz="2400" b="1">
                <a:solidFill>
                  <a:srgbClr val="56D9C5"/>
                </a:solidFill>
                <a:latin typeface="DejaVu Sans"/>
                <a:ea typeface="DejaVu Sans"/>
                <a:cs typeface="DejaVu Sans"/>
              </a:defRPr>
            </a:pPr>
            <a:r>
              <a:rPr sz="2400" b="1">
                <a:solidFill>
                  <a:srgbClr val="56D9C5"/>
                </a:solidFill>
                <a:latin typeface="DejaVu Sans"/>
                <a:ea typeface="DejaVu Sans"/>
                <a:cs typeface="DejaVu Sans"/>
              </a:rPr>
              <a:t>Reliable demonstration</a:t>
            </a:r>
            <a:endParaRPr sz="2400" b="1">
              <a:solidFill>
                <a:srgbClr val="56D9C5"/>
              </a:solidFill>
              <a:latin typeface="DejaVu Sans"/>
              <a:ea typeface="DejaVu Sans"/>
              <a:cs typeface="DejaVu Sans"/>
            </a:endParaRPr>
          </a:p>
        </p:txBody>
      </p:sp>
      <p:sp>
        <p:nvSpPr>
          <p:cNvPr id="4" name="Rectangles 3"/>
          <p:cNvSpPr>
            <a:spLocks noGrp="1"/>
          </p:cNvSpPr>
          <p:nvPr/>
        </p:nvSpPr>
        <p:spPr>
          <a:xfrm>
            <a:off x="619125" y="2209800"/>
            <a:ext cx="10572750" cy="1095375"/>
          </a:xfrm>
          <a:prstGeom prst="rect">
            <a:avLst/>
          </a:prstGeom>
          <a:noFill/>
          <a:ln w="0">
            <a:noFill/>
          </a:ln>
        </p:spPr>
        <p:txBody>
          <a:bodyPr/>
          <a:lstStyle>
            <a:defPPr>
              <a:defRPr sz="2025" b="0">
                <a:solidFill>
                  <a:srgbClr val="E5EDF8"/>
                </a:solidFill>
                <a:latin typeface="DejaVu Sans"/>
                <a:ea typeface="DejaVu Sans"/>
                <a:cs typeface="DejaVu Sans"/>
              </a:defRPr>
            </a:defPPr>
          </a:lstStyle>
          <a:p>
            <a:pPr>
              <a:defRPr sz="2025" b="0">
                <a:solidFill>
                  <a:srgbClr val="E5EDF8"/>
                </a:solidFill>
                <a:latin typeface="DejaVu Sans"/>
                <a:ea typeface="DejaVu Sans"/>
                <a:cs typeface="DejaVu Sans"/>
              </a:defRPr>
            </a:pPr>
            <a:r>
              <a:rPr sz="2025" b="0">
                <a:solidFill>
                  <a:srgbClr val="E5EDF8"/>
                </a:solidFill>
                <a:latin typeface="DejaVu Sans"/>
                <a:ea typeface="DejaVu Sans"/>
                <a:cs typeface="DejaVu Sans"/>
              </a:rPr>
              <a:t>Replay requires no Transformer downloads. Live failure visibly uses a</a:t>
            </a:r>
            <a:endParaRPr sz="2025" b="0">
              <a:solidFill>
                <a:srgbClr val="E5EDF8"/>
              </a:solidFill>
              <a:latin typeface="DejaVu Sans"/>
              <a:ea typeface="DejaVu Sans"/>
              <a:cs typeface="DejaVu Sans"/>
            </a:endParaRPr>
          </a:p>
          <a:p>
            <a:pPr>
              <a:defRPr sz="2025" b="0">
                <a:solidFill>
                  <a:srgbClr val="E5EDF8"/>
                </a:solidFill>
                <a:latin typeface="DejaVu Sans"/>
                <a:ea typeface="DejaVu Sans"/>
                <a:cs typeface="DejaVu Sans"/>
              </a:defRPr>
            </a:pPr>
            <a:r>
              <a:rPr sz="2025" b="0">
                <a:solidFill>
                  <a:srgbClr val="E5EDF8"/>
                </a:solidFill>
                <a:latin typeface="DejaVu Sans"/>
                <a:ea typeface="DejaVu Sans"/>
                <a:cs typeface="DejaVu Sans"/>
              </a:rPr>
              <a:t>saved snapshot. The local API persists structured observations.</a:t>
            </a:r>
            <a:endParaRPr sz="2025" b="0">
              <a:solidFill>
                <a:srgbClr val="E5EDF8"/>
              </a:solidFill>
              <a:latin typeface="DejaVu Sans"/>
              <a:ea typeface="DejaVu Sans"/>
              <a:cs typeface="DejaVu Sans"/>
            </a:endParaRPr>
          </a:p>
        </p:txBody>
      </p:sp>
      <p:sp>
        <p:nvSpPr>
          <p:cNvPr id="5" name="Rectangles 4"/>
          <p:cNvSpPr>
            <a:spLocks noGrp="1"/>
          </p:cNvSpPr>
          <p:nvPr/>
        </p:nvSpPr>
        <p:spPr>
          <a:xfrm>
            <a:off x="619125" y="3648075"/>
            <a:ext cx="10763250" cy="495300"/>
          </a:xfrm>
          <a:prstGeom prst="rect">
            <a:avLst/>
          </a:prstGeom>
          <a:noFill/>
          <a:ln w="0">
            <a:noFill/>
          </a:ln>
        </p:spPr>
        <p:txBody>
          <a:bodyPr/>
          <a:lstStyle>
            <a:defPPr>
              <a:defRPr sz="2400" b="1">
                <a:solidFill>
                  <a:srgbClr val="56D9C5"/>
                </a:solidFill>
                <a:latin typeface="DejaVu Sans"/>
                <a:ea typeface="DejaVu Sans"/>
                <a:cs typeface="DejaVu Sans"/>
              </a:defRPr>
            </a:defPPr>
          </a:lstStyle>
          <a:p>
            <a:pPr>
              <a:defRPr sz="2400" b="1">
                <a:solidFill>
                  <a:srgbClr val="56D9C5"/>
                </a:solidFill>
                <a:latin typeface="DejaVu Sans"/>
                <a:ea typeface="DejaVu Sans"/>
                <a:cs typeface="DejaVu Sans"/>
              </a:defRPr>
            </a:pPr>
            <a:r>
              <a:rPr sz="2400" b="1">
                <a:solidFill>
                  <a:srgbClr val="56D9C5"/>
                </a:solidFill>
                <a:latin typeface="DejaVu Sans"/>
                <a:ea typeface="DejaVu Sans"/>
                <a:cs typeface="DejaVu Sans"/>
              </a:rPr>
              <a:t>What remains uncalibrated</a:t>
            </a:r>
            <a:endParaRPr sz="2400" b="1">
              <a:solidFill>
                <a:srgbClr val="56D9C5"/>
              </a:solidFill>
              <a:latin typeface="DejaVu Sans"/>
              <a:ea typeface="DejaVu Sans"/>
              <a:cs typeface="DejaVu Sans"/>
            </a:endParaRPr>
          </a:p>
        </p:txBody>
      </p:sp>
      <p:sp>
        <p:nvSpPr>
          <p:cNvPr id="6" name="Rectangles 5"/>
          <p:cNvSpPr>
            <a:spLocks noGrp="1"/>
          </p:cNvSpPr>
          <p:nvPr/>
        </p:nvSpPr>
        <p:spPr>
          <a:xfrm>
            <a:off x="619125" y="4314825"/>
            <a:ext cx="10668000" cy="1095375"/>
          </a:xfrm>
          <a:prstGeom prst="rect">
            <a:avLst/>
          </a:prstGeom>
          <a:noFill/>
          <a:ln w="0">
            <a:noFill/>
          </a:ln>
        </p:spPr>
        <p:txBody>
          <a:bodyPr/>
          <a:lstStyle>
            <a:defPPr>
              <a:defRPr sz="2025" b="0">
                <a:solidFill>
                  <a:srgbClr val="E5EDF8"/>
                </a:solidFill>
                <a:latin typeface="DejaVu Sans"/>
                <a:ea typeface="DejaVu Sans"/>
                <a:cs typeface="DejaVu Sans"/>
              </a:defRPr>
            </a:defPPr>
          </a:lstStyle>
          <a:p>
            <a:pPr>
              <a:defRPr sz="2025" b="0">
                <a:solidFill>
                  <a:srgbClr val="E5EDF8"/>
                </a:solidFill>
                <a:latin typeface="DejaVu Sans"/>
                <a:ea typeface="DejaVu Sans"/>
                <a:cs typeface="DejaVu Sans"/>
              </a:defRPr>
            </a:pPr>
            <a:r>
              <a:rPr sz="2025" b="0">
                <a:solidFill>
                  <a:srgbClr val="E5EDF8"/>
                </a:solidFill>
                <a:latin typeface="DejaVu Sans"/>
                <a:ea typeface="DejaVu Sans"/>
                <a:cs typeface="DejaVu Sans"/>
              </a:rPr>
              <a:t>Severity, confidence thresholds and scenario magnitudes need broader</a:t>
            </a:r>
            <a:endParaRPr sz="2025" b="0">
              <a:solidFill>
                <a:srgbClr val="E5EDF8"/>
              </a:solidFill>
              <a:latin typeface="DejaVu Sans"/>
              <a:ea typeface="DejaVu Sans"/>
              <a:cs typeface="DejaVu Sans"/>
            </a:endParaRPr>
          </a:p>
          <a:p>
            <a:pPr>
              <a:defRPr sz="2025" b="0">
                <a:solidFill>
                  <a:srgbClr val="E5EDF8"/>
                </a:solidFill>
                <a:latin typeface="DejaVu Sans"/>
                <a:ea typeface="DejaVu Sans"/>
                <a:cs typeface="DejaVu Sans"/>
              </a:defRPr>
            </a:pPr>
            <a:r>
              <a:rPr sz="2025" b="0">
                <a:solidFill>
                  <a:srgbClr val="E5EDF8"/>
                </a:solidFill>
                <a:latin typeface="DejaVu Sans"/>
                <a:ea typeface="DejaVu Sans"/>
                <a:cs typeface="DejaVu Sans"/>
              </a:rPr>
              <a:t>independent validation. Six SPY event-day checks cannot establish causation.</a:t>
            </a:r>
            <a:endParaRPr sz="2025" b="0">
              <a:solidFill>
                <a:srgbClr val="E5EDF8"/>
              </a:solidFill>
              <a:latin typeface="DejaVu Sans"/>
              <a:ea typeface="DejaVu Sans"/>
              <a:cs typeface="DejaVu Sans"/>
            </a:endParaRPr>
          </a:p>
        </p:txBody>
      </p:sp>
      <p:sp>
        <p:nvSpPr>
          <p:cNvPr id="7" name="Rectangles 6"/>
          <p:cNvSpPr>
            <a:spLocks noGrp="1"/>
          </p:cNvSpPr>
          <p:nvPr/>
        </p:nvSpPr>
        <p:spPr>
          <a:xfrm>
            <a:off x="619125" y="5943600"/>
            <a:ext cx="10382250" cy="552450"/>
          </a:xfrm>
          <a:prstGeom prst="rect">
            <a:avLst/>
          </a:prstGeom>
          <a:noFill/>
          <a:ln w="0">
            <a:noFill/>
          </a:ln>
        </p:spPr>
        <p:txBody>
          <a:bodyPr/>
          <a:lstStyle>
            <a:defPPr>
              <a:defRPr sz="1425" b="0">
                <a:solidFill>
                  <a:srgbClr val="A9B8CE"/>
                </a:solidFill>
                <a:latin typeface="DejaVu Sans"/>
                <a:ea typeface="DejaVu Sans"/>
                <a:cs typeface="DejaVu Sans"/>
              </a:defRPr>
            </a:defPPr>
          </a:lstStyle>
          <a:p>
            <a:pPr>
              <a:defRPr sz="1425" b="0">
                <a:solidFill>
                  <a:srgbClr val="A9B8CE"/>
                </a:solidFill>
                <a:latin typeface="DejaVu Sans"/>
                <a:ea typeface="DejaVu Sans"/>
                <a:cs typeface="DejaVu Sans"/>
              </a:defRPr>
            </a:pPr>
            <a:r>
              <a:rPr sz="1425" b="0">
                <a:solidFill>
                  <a:srgbClr val="A9B8CE"/>
                </a:solidFill>
                <a:latin typeface="DejaVu Sans"/>
                <a:ea typeface="DejaVu Sans"/>
                <a:cs typeface="DejaVu Sans"/>
              </a:rPr>
              <a:t>Next steps: independent annotation, target-aware sentiment, richer curve and credit models, freshness and source verification.</a:t>
            </a:r>
            <a:endParaRPr sz="1425" b="0">
              <a:solidFill>
                <a:srgbClr val="A9B8CE"/>
              </a:solidFill>
              <a:latin typeface="DejaVu Sans"/>
              <a:ea typeface="DejaVu Sans"/>
              <a:cs typeface="DejaVu Sans"/>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2442</Words>
  <Application>WPS Writer</Application>
  <PresentationFormat>Converted Presentation</PresentationFormat>
  <Paragraphs>136</Paragraphs>
  <Slides>7</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7</vt:i4>
      </vt:variant>
    </vt:vector>
  </HeadingPairs>
  <TitlesOfParts>
    <vt:vector size="20" baseType="lpstr">
      <vt:lpstr>Arial</vt:lpstr>
      <vt:lpstr>SimSun</vt:lpstr>
      <vt:lpstr>Wingdings</vt:lpstr>
      <vt:lpstr>DejaVu Sans</vt:lpstr>
      <vt:lpstr>Thonburi</vt:lpstr>
      <vt:lpstr>Microsoft YaHei</vt:lpstr>
      <vt:lpstr>汉仪旗黑</vt:lpstr>
      <vt:lpstr>Arial Unicode MS</vt:lpstr>
      <vt:lpstr>Aptos</vt:lpstr>
      <vt:lpstr>Helvetica Neue</vt:lpstr>
      <vt:lpstr>Calibri</vt:lpstr>
      <vt:lpstr>宋体-简</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MW1</cp:lastModifiedBy>
  <cp:revision>2</cp:revision>
  <dcterms:created xsi:type="dcterms:W3CDTF">2026-10-11T12:50:12Z</dcterms:created>
  <dcterms:modified xsi:type="dcterms:W3CDTF">2026-10-11T12:50:12Z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FEE5B36C2FECF10F2474CB6A6F1C1757_42</vt:lpwstr>
  </property>
  <property fmtid="{D5CDD505-2E9C-101B-9397-08002B2CF9AE}" pid="3" name="KSOProductBuildVer">
    <vt:lpwstr>1033-6.14.0.8716</vt:lpwstr>
  </property>
</Properties>
</file>